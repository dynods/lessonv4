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children: Right, the important bit. This table tells us how much water was left in each saucer. But we want to know how much water evaporated, how much went into the air. They're not the same thing. We already did the windowsill one. It started with 50 ml and had 10 ml left, so 50 take away 10 is 40 ml that evaporated. Watch out, because this catches a lot of people out: the fridge saucer has the biggest number, 48 ml, but that's the water that stayed. Now you do the other two. How much water evaporated from the saucer on the shelf, and how much from the saucer in the fridge?
Teacher information: Go through 15 ml and 2 ml with the class before the next slide, because the sentences there are judged from this column. A class that carries 35 ml and 48 ml forward will reach the opposite conclusion.
Answer to question(s) on this slide: Shelf 15 ml. Fridge 2 ml.
Look for: 35 ml and 48 ml copied from the water left; point at the windowsill row, where 10 ml was left but 40 ml evaporated.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children: Here are our amounts: 40 ml from the windowsill, 15 ml from the shelf and 2 ml from the fridge. Here are three sentences about what these results show. Only one of them fits every saucer. Check each sentence against the table, one saucer at a time. Write the letter of the sentence our results show. Then choose one of the other sentences and write which saucer shows it's wrong.
Answer to question(s) on this slide: B. A is wrong because the fridge was the coldest place and its saucer still lost 2 ml. C is wrong because the fridge was the coldest and lost the least, while the windowsill was the warmest and lost the most.
Look for: A usually means the child thinks cold water doesn't evaporate at all; point them to the fridge row. C usually means they are reading the water left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children: You chose B: the warmer the place, the more water evaporated. Now think about the time. All three saucers had exactly the same two days. So if the windowsill saucer lost 40 ml and the fridge saucer lost only 2 ml in the same time, which one was evaporating faster? The windowsill, by miles. The water there was warmer, so it was turning into water vapour much faster. And look at the fridge. Even in there, 2 ml got out into the air. Not exactly a quick escape, but it still happened. So water doesn't have to boil, and it doesn't even have to be warm, to evaporate. Cold water evaporates too. It just happens very slowly. So here's the rule our saucers showed us: the warmer the water, the faster it evaporates.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children: Leo's thinking about two wet towels on a washing line. One goes out on a hot, sunny day and one goes out on a cold, cloudy day. Leo's said two things, and we're going to check them one at a time. First, is he right that the towel on the hot day will dry quicker? Don't just tell me what you think. Use our saucer results to show it. The table's there to help you. If you're not sure how to start, begin with "Our saucer results show..." This one is on your own.
Teacher information: Keep the star facts off this slide; the table stays because using it is the task.
Answer/model for this slide: Yes. Warmer water evaporates faster. The saucer on the sunny windowsill was the warmest, and 40 ml of its water evaporated in two days. The fridge saucer only lost 2 ml. So the towel on the hot day will dry quicker.
Look for: 40 ml and 2 ml used as water that evaporated, not water left; "Yes, because the sun dries things" with no numbers is everyday sense, so ask which saucer it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children: Here's a strong answer. Look at what it does. It says yes, it gives the rule, and then it proves it with two saucers, the warmest and the coldest. Check yours. Did you use the water that evaporated, 40 ml and 2 ml, and not the water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D9C7"/>
        </a:solidFill>
      </p:bgPr>
    </p:bg>
    <p:spTree>
      <p:nvGrpSpPr>
        <p:cNvPr id="1" name=""/>
        <p:cNvGrpSpPr/>
        <p:nvPr/>
      </p:nvGrpSpPr>
      <p:grpSpPr>
        <a:xfrm>
          <a:off x="0" y="0"/>
          <a:ext cx="0" cy="0"/>
          <a:chOff x="0" y="0"/>
          <a:chExt cx="0" cy="0"/>
        </a:xfrm>
      </p:grpSpPr>
      <p:sp>
        <p:nvSpPr>
          <p:cNvPr id="2" name="Text 0"/>
          <p:cNvSpPr/>
          <p:nvPr/>
        </p:nvSpPr>
        <p:spPr>
          <a:xfrm>
            <a:off x="64008" y="0"/>
            <a:ext cx="7315200" cy="493776"/>
          </a:xfrm>
          <a:prstGeom prst="rect">
            <a:avLst/>
          </a:prstGeom>
          <a:noFill/>
          <a:ln/>
        </p:spPr>
        <p:txBody>
          <a:bodyPr wrap="square" lIns="0" tIns="0" rIns="0" bIns="0" rtlCol="0" anchor="t">
            <a:noAutofit/>
          </a:bodyPr>
          <a:lstStyle/>
          <a:p>
            <a:pPr algn="l" indent="0" marL="0">
              <a:buNone/>
            </a:pPr>
            <a:r>
              <a:rPr lang="en-US" sz="2800" b="1" u="sng" dirty="0">
                <a:solidFill>
                  <a:srgbClr val="0070C0"/>
                </a:solidFill>
                <a:latin typeface="Comic Sans MS" pitchFamily="34" charset="0"/>
                <a:ea typeface="Comic Sans MS" pitchFamily="34" charset="-122"/>
                <a:cs typeface="Comic Sans MS" pitchFamily="34" charset="-120"/>
              </a:rPr>
              <a:t>How much water went into the air?</a:t>
            </a:r>
            <a:endParaRPr lang="en-US" sz="2800" dirty="0"/>
          </a:p>
        </p:txBody>
      </p:sp>
      <p:sp>
        <p:nvSpPr>
          <p:cNvPr id="3" name="Shape 1"/>
          <p:cNvSpPr/>
          <p:nvPr/>
        </p:nvSpPr>
        <p:spPr>
          <a:xfrm>
            <a:off x="201168" y="548640"/>
            <a:ext cx="11789359" cy="3538728"/>
          </a:xfrm>
          <a:prstGeom prst="roundRect">
            <a:avLst>
              <a:gd name="adj" fmla="val 2067"/>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4" name="Shape 2"/>
          <p:cNvSpPr/>
          <p:nvPr/>
        </p:nvSpPr>
        <p:spPr>
          <a:xfrm>
            <a:off x="420624" y="768096"/>
            <a:ext cx="2837612" cy="457200"/>
          </a:xfrm>
          <a:prstGeom prst="rect">
            <a:avLst/>
          </a:prstGeom>
          <a:solidFill>
            <a:srgbClr val="3A3A3A"/>
          </a:solidFill>
          <a:ln w="12700">
            <a:solidFill>
              <a:srgbClr val="3A3A3A"/>
            </a:solidFill>
            <a:prstDash val="solid"/>
          </a:ln>
        </p:spPr>
        <p:txBody>
          <a:bodyPr/>
          <a:p/>
        </p:txBody>
      </p:sp>
      <p:sp>
        <p:nvSpPr>
          <p:cNvPr id="5" name="GROWFIT__table-text-340-720-12653-3630__40__MIN20__table-header-0"/>
          <p:cNvSpPr/>
          <p:nvPr/>
        </p:nvSpPr>
        <p:spPr>
          <a:xfrm>
            <a:off x="420624" y="768096"/>
            <a:ext cx="2837612" cy="457200"/>
          </a:xfrm>
          <a:prstGeom prst="rect">
            <a:avLst/>
          </a:prstGeom>
          <a:noFill/>
          <a:ln/>
        </p:spPr>
        <p:txBody>
          <a:bodyPr wrap="square" lIns="0" tIns="0" rIns="0" bIns="0" rtlCol="0" anchor="ctr">
            <a:noAutofit/>
          </a:bodyPr>
          <a:lstStyle/>
          <a:p>
            <a:pPr algn="ctr" indent="0" marL="0">
              <a:buNone/>
            </a:pPr>
            <a:r>
              <a:rPr lang="en-US" sz="2200" b="1" dirty="0">
                <a:solidFill>
                  <a:srgbClr val="FFFFFF"/>
                </a:solidFill>
                <a:latin typeface="Comic Sans MS" pitchFamily="34" charset="0"/>
                <a:ea typeface="Comic Sans MS" pitchFamily="34" charset="-122"/>
                <a:cs typeface="Comic Sans MS" pitchFamily="34" charset="-120"/>
              </a:rPr>
              <a:t>Where it was</a:t>
            </a:r>
            <a:endParaRPr lang="en-US" sz="2200" dirty="0"/>
          </a:p>
        </p:txBody>
      </p:sp>
      <p:sp>
        <p:nvSpPr>
          <p:cNvPr id="6" name="Shape 4"/>
          <p:cNvSpPr/>
          <p:nvPr/>
        </p:nvSpPr>
        <p:spPr>
          <a:xfrm>
            <a:off x="3258236" y="768096"/>
            <a:ext cx="2837612" cy="457200"/>
          </a:xfrm>
          <a:prstGeom prst="rect">
            <a:avLst/>
          </a:prstGeom>
          <a:solidFill>
            <a:srgbClr val="3A3A3A"/>
          </a:solidFill>
          <a:ln w="12700">
            <a:solidFill>
              <a:srgbClr val="3A3A3A"/>
            </a:solidFill>
            <a:prstDash val="solid"/>
          </a:ln>
        </p:spPr>
        <p:txBody>
          <a:bodyPr/>
          <a:p/>
        </p:txBody>
      </p:sp>
      <p:sp>
        <p:nvSpPr>
          <p:cNvPr id="7" name="GROWFIT__table-text-340-720-12653-3630__40__MIN20__table-header-1"/>
          <p:cNvSpPr/>
          <p:nvPr/>
        </p:nvSpPr>
        <p:spPr>
          <a:xfrm>
            <a:off x="3258236" y="768096"/>
            <a:ext cx="2837612" cy="457200"/>
          </a:xfrm>
          <a:prstGeom prst="rect">
            <a:avLst/>
          </a:prstGeom>
          <a:noFill/>
          <a:ln/>
        </p:spPr>
        <p:txBody>
          <a:bodyPr wrap="square" lIns="0" tIns="0" rIns="0" bIns="0" rtlCol="0" anchor="ctr">
            <a:noAutofit/>
          </a:bodyPr>
          <a:lstStyle/>
          <a:p>
            <a:pPr algn="ctr" indent="0" marL="0">
              <a:buNone/>
            </a:pPr>
            <a:r>
              <a:rPr lang="en-US" sz="2200" b="1" dirty="0">
                <a:solidFill>
                  <a:srgbClr val="FFFFFF"/>
                </a:solidFill>
                <a:latin typeface="Comic Sans MS" pitchFamily="34" charset="0"/>
                <a:ea typeface="Comic Sans MS" pitchFamily="34" charset="-122"/>
                <a:cs typeface="Comic Sans MS" pitchFamily="34" charset="-120"/>
              </a:rPr>
              <a:t>At the start</a:t>
            </a:r>
            <a:endParaRPr lang="en-US" sz="2200" dirty="0"/>
          </a:p>
        </p:txBody>
      </p:sp>
      <p:sp>
        <p:nvSpPr>
          <p:cNvPr id="8" name="Shape 6"/>
          <p:cNvSpPr/>
          <p:nvPr/>
        </p:nvSpPr>
        <p:spPr>
          <a:xfrm>
            <a:off x="6095848" y="768096"/>
            <a:ext cx="2837612" cy="457200"/>
          </a:xfrm>
          <a:prstGeom prst="rect">
            <a:avLst/>
          </a:prstGeom>
          <a:solidFill>
            <a:srgbClr val="3A3A3A"/>
          </a:solidFill>
          <a:ln w="12700">
            <a:solidFill>
              <a:srgbClr val="3A3A3A"/>
            </a:solidFill>
            <a:prstDash val="solid"/>
          </a:ln>
        </p:spPr>
        <p:txBody>
          <a:bodyPr/>
          <a:p/>
        </p:txBody>
      </p:sp>
      <p:sp>
        <p:nvSpPr>
          <p:cNvPr id="9" name="GROWFIT__table-text-340-720-12653-3630__40__MIN20__table-header-2"/>
          <p:cNvSpPr/>
          <p:nvPr/>
        </p:nvSpPr>
        <p:spPr>
          <a:xfrm>
            <a:off x="6095848" y="768096"/>
            <a:ext cx="2837612" cy="457200"/>
          </a:xfrm>
          <a:prstGeom prst="rect">
            <a:avLst/>
          </a:prstGeom>
          <a:noFill/>
          <a:ln/>
        </p:spPr>
        <p:txBody>
          <a:bodyPr wrap="square" lIns="0" tIns="0" rIns="0" bIns="0" rtlCol="0" anchor="ctr">
            <a:noAutofit/>
          </a:bodyPr>
          <a:lstStyle/>
          <a:p>
            <a:pPr algn="ctr" indent="0" marL="0">
              <a:buNone/>
            </a:pPr>
            <a:r>
              <a:rPr lang="en-US" sz="2200" b="1" dirty="0">
                <a:solidFill>
                  <a:srgbClr val="FFFFFF"/>
                </a:solidFill>
                <a:latin typeface="Comic Sans MS" pitchFamily="34" charset="0"/>
                <a:ea typeface="Comic Sans MS" pitchFamily="34" charset="-122"/>
                <a:cs typeface="Comic Sans MS" pitchFamily="34" charset="-120"/>
              </a:rPr>
              <a:t>Left after two days</a:t>
            </a:r>
            <a:endParaRPr lang="en-US" sz="2200" dirty="0"/>
          </a:p>
        </p:txBody>
      </p:sp>
      <p:sp>
        <p:nvSpPr>
          <p:cNvPr id="10" name="Shape 8"/>
          <p:cNvSpPr/>
          <p:nvPr/>
        </p:nvSpPr>
        <p:spPr>
          <a:xfrm>
            <a:off x="8933459" y="768096"/>
            <a:ext cx="2837612" cy="457200"/>
          </a:xfrm>
          <a:prstGeom prst="rect">
            <a:avLst/>
          </a:prstGeom>
          <a:solidFill>
            <a:srgbClr val="3A3A3A"/>
          </a:solidFill>
          <a:ln w="12700">
            <a:solidFill>
              <a:srgbClr val="3A3A3A"/>
            </a:solidFill>
            <a:prstDash val="solid"/>
          </a:ln>
        </p:spPr>
        <p:txBody>
          <a:bodyPr/>
          <a:p/>
        </p:txBody>
      </p:sp>
      <p:sp>
        <p:nvSpPr>
          <p:cNvPr id="11" name="GROWFIT__table-text-340-720-12653-3630__40__MIN20__table-header-3"/>
          <p:cNvSpPr/>
          <p:nvPr/>
        </p:nvSpPr>
        <p:spPr>
          <a:xfrm>
            <a:off x="8933459" y="768096"/>
            <a:ext cx="2837612" cy="457200"/>
          </a:xfrm>
          <a:prstGeom prst="rect">
            <a:avLst/>
          </a:prstGeom>
          <a:noFill/>
          <a:ln/>
        </p:spPr>
        <p:txBody>
          <a:bodyPr wrap="square" lIns="0" tIns="0" rIns="0" bIns="0" rtlCol="0" anchor="ctr">
            <a:noAutofit/>
          </a:bodyPr>
          <a:lstStyle/>
          <a:p>
            <a:pPr algn="ctr" indent="0" marL="0">
              <a:buNone/>
            </a:pPr>
            <a:r>
              <a:rPr lang="en-US" sz="2200" b="1" dirty="0">
                <a:solidFill>
                  <a:srgbClr val="FFFFFF"/>
                </a:solidFill>
                <a:latin typeface="Comic Sans MS" pitchFamily="34" charset="0"/>
                <a:ea typeface="Comic Sans MS" pitchFamily="34" charset="-122"/>
                <a:cs typeface="Comic Sans MS" pitchFamily="34" charset="-120"/>
              </a:rPr>
              <a:t>Evaporated</a:t>
            </a:r>
            <a:endParaRPr lang="en-US" sz="2200" dirty="0"/>
          </a:p>
        </p:txBody>
      </p:sp>
      <p:sp>
        <p:nvSpPr>
          <p:cNvPr id="12" name="Shape 10"/>
          <p:cNvSpPr/>
          <p:nvPr/>
        </p:nvSpPr>
        <p:spPr>
          <a:xfrm>
            <a:off x="420624" y="1225296"/>
            <a:ext cx="2837612" cy="880872"/>
          </a:xfrm>
          <a:prstGeom prst="rect">
            <a:avLst/>
          </a:prstGeom>
          <a:solidFill>
            <a:srgbClr val="FFE0C2"/>
          </a:solidFill>
          <a:ln w="12700">
            <a:solidFill>
              <a:srgbClr val="CCCCCC"/>
            </a:solidFill>
            <a:prstDash val="solid"/>
          </a:ln>
        </p:spPr>
        <p:txBody>
          <a:bodyPr/>
          <a:p/>
        </p:txBody>
      </p:sp>
      <p:sp>
        <p:nvSpPr>
          <p:cNvPr id="13" name="GROWFIT__table-text-340-720-12653-3630__54__MIN20__table-cell-0-0"/>
          <p:cNvSpPr/>
          <p:nvPr/>
        </p:nvSpPr>
        <p:spPr>
          <a:xfrm>
            <a:off x="420624" y="1225296"/>
            <a:ext cx="2837612" cy="880872"/>
          </a:xfrm>
          <a:prstGeom prst="rect">
            <a:avLst/>
          </a:prstGeom>
          <a:noFill/>
          <a:ln/>
        </p:spPr>
        <p:txBody>
          <a:bodyPr wrap="square" lIns="0" tIns="0" rIns="0" bIns="0" rtlCol="0" anchor="ctr">
            <a:noAutofit/>
          </a:bodyPr>
          <a:lstStyle/>
          <a:p>
            <a:pPr algn="ctr" indent="0" marL="0">
              <a:buNone/>
            </a:pPr>
            <a:r>
              <a:rPr lang="en-US" sz="2200" b="1" dirty="0">
                <a:solidFill>
                  <a:srgbClr val="000000"/>
                </a:solidFill>
                <a:latin typeface="Comic Sans MS" pitchFamily="34" charset="0"/>
                <a:ea typeface="Comic Sans MS" pitchFamily="34" charset="-122"/>
                <a:cs typeface="Comic Sans MS" pitchFamily="34" charset="-120"/>
              </a:rPr>
              <a:t>Sunny windowsill</a:t>
            </a:r>
            <a:endParaRPr lang="en-US" sz="2200" dirty="0"/>
          </a:p>
        </p:txBody>
      </p:sp>
      <p:sp>
        <p:nvSpPr>
          <p:cNvPr id="14" name="Shape 12"/>
          <p:cNvSpPr/>
          <p:nvPr/>
        </p:nvSpPr>
        <p:spPr>
          <a:xfrm>
            <a:off x="3258236" y="1225296"/>
            <a:ext cx="2837612" cy="880872"/>
          </a:xfrm>
          <a:prstGeom prst="rect">
            <a:avLst/>
          </a:prstGeom>
          <a:solidFill>
            <a:srgbClr val="FFE0C2"/>
          </a:solidFill>
          <a:ln w="12700">
            <a:solidFill>
              <a:srgbClr val="CCCCCC"/>
            </a:solidFill>
            <a:prstDash val="solid"/>
          </a:ln>
        </p:spPr>
        <p:txBody>
          <a:bodyPr/>
          <a:p/>
        </p:txBody>
      </p:sp>
      <p:sp>
        <p:nvSpPr>
          <p:cNvPr id="15" name="GROWFIT__table-text-340-720-12653-3630__54__MIN20__table-cell-0-1"/>
          <p:cNvSpPr/>
          <p:nvPr/>
        </p:nvSpPr>
        <p:spPr>
          <a:xfrm>
            <a:off x="3258236" y="1225296"/>
            <a:ext cx="2837612" cy="880872"/>
          </a:xfrm>
          <a:prstGeom prst="rect">
            <a:avLst/>
          </a:prstGeom>
          <a:noFill/>
          <a:ln/>
        </p:spPr>
        <p:txBody>
          <a:bodyPr wrap="square" lIns="0" tIns="0" rIns="0" bIns="0" rtlCol="0" anchor="ctr">
            <a:noAutofit/>
          </a:bodyPr>
          <a:lstStyle/>
          <a:p>
            <a:pPr algn="ctr" indent="0" marL="0">
              <a:buNone/>
            </a:pPr>
            <a:r>
              <a:rPr lang="en-US" sz="2200" dirty="0">
                <a:solidFill>
                  <a:srgbClr val="000000"/>
                </a:solidFill>
                <a:latin typeface="Comic Sans MS" pitchFamily="34" charset="0"/>
                <a:ea typeface="Comic Sans MS" pitchFamily="34" charset="-122"/>
                <a:cs typeface="Comic Sans MS" pitchFamily="34" charset="-120"/>
              </a:rPr>
              <a:t>50 ml</a:t>
            </a:r>
            <a:endParaRPr lang="en-US" sz="2200" dirty="0"/>
          </a:p>
        </p:txBody>
      </p:sp>
      <p:sp>
        <p:nvSpPr>
          <p:cNvPr id="16" name="Shape 14"/>
          <p:cNvSpPr/>
          <p:nvPr/>
        </p:nvSpPr>
        <p:spPr>
          <a:xfrm>
            <a:off x="6095848" y="1225296"/>
            <a:ext cx="2837612" cy="880872"/>
          </a:xfrm>
          <a:prstGeom prst="rect">
            <a:avLst/>
          </a:prstGeom>
          <a:solidFill>
            <a:srgbClr val="FFE0C2"/>
          </a:solidFill>
          <a:ln w="12700">
            <a:solidFill>
              <a:srgbClr val="CCCCCC"/>
            </a:solidFill>
            <a:prstDash val="solid"/>
          </a:ln>
        </p:spPr>
        <p:txBody>
          <a:bodyPr/>
          <a:p/>
        </p:txBody>
      </p:sp>
      <p:sp>
        <p:nvSpPr>
          <p:cNvPr id="17" name="GROWFIT__table-text-340-720-12653-3630__54__MIN20__table-cell-0-2"/>
          <p:cNvSpPr/>
          <p:nvPr/>
        </p:nvSpPr>
        <p:spPr>
          <a:xfrm>
            <a:off x="6095848" y="1225296"/>
            <a:ext cx="2837612" cy="880872"/>
          </a:xfrm>
          <a:prstGeom prst="rect">
            <a:avLst/>
          </a:prstGeom>
          <a:noFill/>
          <a:ln/>
        </p:spPr>
        <p:txBody>
          <a:bodyPr wrap="square" lIns="0" tIns="0" rIns="0" bIns="0" rtlCol="0" anchor="ctr">
            <a:noAutofit/>
          </a:bodyPr>
          <a:lstStyle/>
          <a:p>
            <a:pPr algn="ctr" indent="0" marL="0">
              <a:buNone/>
            </a:pPr>
            <a:r>
              <a:rPr lang="en-US" sz="2200" dirty="0">
                <a:solidFill>
                  <a:srgbClr val="000000"/>
                </a:solidFill>
                <a:latin typeface="Comic Sans MS" pitchFamily="34" charset="0"/>
                <a:ea typeface="Comic Sans MS" pitchFamily="34" charset="-122"/>
                <a:cs typeface="Comic Sans MS" pitchFamily="34" charset="-120"/>
              </a:rPr>
              <a:t>10 ml</a:t>
            </a:r>
            <a:endParaRPr lang="en-US" sz="2200" dirty="0"/>
          </a:p>
        </p:txBody>
      </p:sp>
      <p:sp>
        <p:nvSpPr>
          <p:cNvPr id="18" name="Shape 16"/>
          <p:cNvSpPr/>
          <p:nvPr/>
        </p:nvSpPr>
        <p:spPr>
          <a:xfrm>
            <a:off x="8933459" y="1225296"/>
            <a:ext cx="2837612" cy="880872"/>
          </a:xfrm>
          <a:prstGeom prst="rect">
            <a:avLst/>
          </a:prstGeom>
          <a:solidFill>
            <a:srgbClr val="FFE0C2"/>
          </a:solidFill>
          <a:ln w="12700">
            <a:solidFill>
              <a:srgbClr val="CCCCCC"/>
            </a:solidFill>
            <a:prstDash val="solid"/>
          </a:ln>
        </p:spPr>
        <p:txBody>
          <a:bodyPr/>
          <a:p/>
        </p:txBody>
      </p:sp>
      <p:sp>
        <p:nvSpPr>
          <p:cNvPr id="19" name="GROWFIT__table-text-340-720-12653-3630__54__MIN20__table-cell-0-3"/>
          <p:cNvSpPr/>
          <p:nvPr/>
        </p:nvSpPr>
        <p:spPr>
          <a:xfrm>
            <a:off x="8933459" y="1225296"/>
            <a:ext cx="2837612" cy="880872"/>
          </a:xfrm>
          <a:prstGeom prst="rect">
            <a:avLst/>
          </a:prstGeom>
          <a:noFill/>
          <a:ln/>
        </p:spPr>
        <p:txBody>
          <a:bodyPr wrap="square" lIns="0" tIns="0" rIns="0" bIns="0" rtlCol="0" anchor="ctr">
            <a:noAutofit/>
          </a:bodyPr>
          <a:lstStyle/>
          <a:p>
            <a:pPr algn="ctr" indent="0" marL="0">
              <a:buNone/>
            </a:pPr>
            <a:r>
              <a:rPr lang="en-US" sz="2200" dirty="0">
                <a:solidFill>
                  <a:srgbClr val="000000"/>
                </a:solidFill>
                <a:latin typeface="Comic Sans MS" pitchFamily="34" charset="0"/>
                <a:ea typeface="Comic Sans MS" pitchFamily="34" charset="-122"/>
                <a:cs typeface="Comic Sans MS" pitchFamily="34" charset="-120"/>
              </a:rPr>
              <a:t>50 ml - 10 ml = 40 ml</a:t>
            </a:r>
            <a:endParaRPr lang="en-US" sz="2200" dirty="0"/>
          </a:p>
        </p:txBody>
      </p:sp>
      <p:sp>
        <p:nvSpPr>
          <p:cNvPr id="20" name="Shape 18"/>
          <p:cNvSpPr/>
          <p:nvPr/>
        </p:nvSpPr>
        <p:spPr>
          <a:xfrm>
            <a:off x="420624" y="2106168"/>
            <a:ext cx="2837612" cy="880872"/>
          </a:xfrm>
          <a:prstGeom prst="rect">
            <a:avLst/>
          </a:prstGeom>
          <a:solidFill>
            <a:srgbClr val="FFF8C2"/>
          </a:solidFill>
          <a:ln w="12700">
            <a:solidFill>
              <a:srgbClr val="CCCCCC"/>
            </a:solidFill>
            <a:prstDash val="solid"/>
          </a:ln>
        </p:spPr>
        <p:txBody>
          <a:bodyPr/>
          <a:p/>
        </p:txBody>
      </p:sp>
      <p:sp>
        <p:nvSpPr>
          <p:cNvPr id="21" name="GROWFIT__table-text-340-720-12653-3630__54__MIN20__table-cell-1-0"/>
          <p:cNvSpPr/>
          <p:nvPr/>
        </p:nvSpPr>
        <p:spPr>
          <a:xfrm>
            <a:off x="420624" y="2106168"/>
            <a:ext cx="2837612" cy="880872"/>
          </a:xfrm>
          <a:prstGeom prst="rect">
            <a:avLst/>
          </a:prstGeom>
          <a:noFill/>
          <a:ln/>
        </p:spPr>
        <p:txBody>
          <a:bodyPr wrap="square" lIns="0" tIns="0" rIns="0" bIns="0" rtlCol="0" anchor="ctr">
            <a:noAutofit/>
          </a:bodyPr>
          <a:lstStyle/>
          <a:p>
            <a:pPr algn="ctr" indent="0" marL="0">
              <a:buNone/>
            </a:pPr>
            <a:r>
              <a:rPr lang="en-US" sz="2200" b="1" dirty="0">
                <a:solidFill>
                  <a:srgbClr val="000000"/>
                </a:solidFill>
                <a:latin typeface="Comic Sans MS" pitchFamily="34" charset="0"/>
                <a:ea typeface="Comic Sans MS" pitchFamily="34" charset="-122"/>
                <a:cs typeface="Comic Sans MS" pitchFamily="34" charset="-120"/>
              </a:rPr>
              <a:t>Classroom shelf</a:t>
            </a:r>
            <a:endParaRPr lang="en-US" sz="2200" dirty="0"/>
          </a:p>
        </p:txBody>
      </p:sp>
      <p:sp>
        <p:nvSpPr>
          <p:cNvPr id="22" name="Shape 20"/>
          <p:cNvSpPr/>
          <p:nvPr/>
        </p:nvSpPr>
        <p:spPr>
          <a:xfrm>
            <a:off x="3258236" y="2106168"/>
            <a:ext cx="2837612" cy="880872"/>
          </a:xfrm>
          <a:prstGeom prst="rect">
            <a:avLst/>
          </a:prstGeom>
          <a:solidFill>
            <a:srgbClr val="FFF8C2"/>
          </a:solidFill>
          <a:ln w="12700">
            <a:solidFill>
              <a:srgbClr val="CCCCCC"/>
            </a:solidFill>
            <a:prstDash val="solid"/>
          </a:ln>
        </p:spPr>
        <p:txBody>
          <a:bodyPr/>
          <a:p/>
        </p:txBody>
      </p:sp>
      <p:sp>
        <p:nvSpPr>
          <p:cNvPr id="23" name="GROWFIT__table-text-340-720-12653-3630__54__MIN20__table-cell-1-1"/>
          <p:cNvSpPr/>
          <p:nvPr/>
        </p:nvSpPr>
        <p:spPr>
          <a:xfrm>
            <a:off x="3258236" y="2106168"/>
            <a:ext cx="2837612" cy="880872"/>
          </a:xfrm>
          <a:prstGeom prst="rect">
            <a:avLst/>
          </a:prstGeom>
          <a:noFill/>
          <a:ln/>
        </p:spPr>
        <p:txBody>
          <a:bodyPr wrap="square" lIns="0" tIns="0" rIns="0" bIns="0" rtlCol="0" anchor="ctr">
            <a:noAutofit/>
          </a:bodyPr>
          <a:lstStyle/>
          <a:p>
            <a:pPr algn="ctr" indent="0" marL="0">
              <a:buNone/>
            </a:pPr>
            <a:r>
              <a:rPr lang="en-US" sz="2200" dirty="0">
                <a:solidFill>
                  <a:srgbClr val="000000"/>
                </a:solidFill>
                <a:latin typeface="Comic Sans MS" pitchFamily="34" charset="0"/>
                <a:ea typeface="Comic Sans MS" pitchFamily="34" charset="-122"/>
                <a:cs typeface="Comic Sans MS" pitchFamily="34" charset="-120"/>
              </a:rPr>
              <a:t>50 ml</a:t>
            </a:r>
            <a:endParaRPr lang="en-US" sz="2200" dirty="0"/>
          </a:p>
        </p:txBody>
      </p:sp>
      <p:sp>
        <p:nvSpPr>
          <p:cNvPr id="24" name="Shape 22"/>
          <p:cNvSpPr/>
          <p:nvPr/>
        </p:nvSpPr>
        <p:spPr>
          <a:xfrm>
            <a:off x="6095848" y="2106168"/>
            <a:ext cx="2837612" cy="880872"/>
          </a:xfrm>
          <a:prstGeom prst="rect">
            <a:avLst/>
          </a:prstGeom>
          <a:solidFill>
            <a:srgbClr val="FFF8C2"/>
          </a:solidFill>
          <a:ln w="12700">
            <a:solidFill>
              <a:srgbClr val="CCCCCC"/>
            </a:solidFill>
            <a:prstDash val="solid"/>
          </a:ln>
        </p:spPr>
        <p:txBody>
          <a:bodyPr/>
          <a:p/>
        </p:txBody>
      </p:sp>
      <p:sp>
        <p:nvSpPr>
          <p:cNvPr id="25" name="GROWFIT__table-text-340-720-12653-3630__54__MIN20__table-cell-1-2"/>
          <p:cNvSpPr/>
          <p:nvPr/>
        </p:nvSpPr>
        <p:spPr>
          <a:xfrm>
            <a:off x="6095848" y="2106168"/>
            <a:ext cx="2837612" cy="880872"/>
          </a:xfrm>
          <a:prstGeom prst="rect">
            <a:avLst/>
          </a:prstGeom>
          <a:noFill/>
          <a:ln/>
        </p:spPr>
        <p:txBody>
          <a:bodyPr wrap="square" lIns="0" tIns="0" rIns="0" bIns="0" rtlCol="0" anchor="ctr">
            <a:noAutofit/>
          </a:bodyPr>
          <a:lstStyle/>
          <a:p>
            <a:pPr algn="ctr" indent="0" marL="0">
              <a:buNone/>
            </a:pPr>
            <a:r>
              <a:rPr lang="en-US" sz="2200" dirty="0">
                <a:solidFill>
                  <a:srgbClr val="000000"/>
                </a:solidFill>
                <a:latin typeface="Comic Sans MS" pitchFamily="34" charset="0"/>
                <a:ea typeface="Comic Sans MS" pitchFamily="34" charset="-122"/>
                <a:cs typeface="Comic Sans MS" pitchFamily="34" charset="-120"/>
              </a:rPr>
              <a:t>35 ml</a:t>
            </a:r>
            <a:endParaRPr lang="en-US" sz="2200" dirty="0"/>
          </a:p>
        </p:txBody>
      </p:sp>
      <p:sp>
        <p:nvSpPr>
          <p:cNvPr id="26" name="Shape 24"/>
          <p:cNvSpPr/>
          <p:nvPr/>
        </p:nvSpPr>
        <p:spPr>
          <a:xfrm>
            <a:off x="8933459" y="2106168"/>
            <a:ext cx="2837612" cy="880872"/>
          </a:xfrm>
          <a:prstGeom prst="rect">
            <a:avLst/>
          </a:prstGeom>
          <a:solidFill>
            <a:srgbClr val="FFF8C2"/>
          </a:solidFill>
          <a:ln w="12700">
            <a:solidFill>
              <a:srgbClr val="CCCCCC"/>
            </a:solidFill>
            <a:prstDash val="solid"/>
          </a:ln>
        </p:spPr>
        <p:txBody>
          <a:bodyPr/>
          <a:p/>
        </p:txBody>
      </p:sp>
      <p:sp>
        <p:nvSpPr>
          <p:cNvPr id="27" name="GROWFIT__table-text-340-720-12653-3630__54__MIN20__table-cell-1-3"/>
          <p:cNvSpPr/>
          <p:nvPr/>
        </p:nvSpPr>
        <p:spPr>
          <a:xfrm>
            <a:off x="8933459" y="2106168"/>
            <a:ext cx="2837612" cy="880872"/>
          </a:xfrm>
          <a:prstGeom prst="rect">
            <a:avLst/>
          </a:prstGeom>
          <a:noFill/>
          <a:ln/>
        </p:spPr>
        <p:txBody>
          <a:bodyPr wrap="square" lIns="0" tIns="0" rIns="0" bIns="0" rtlCol="0" anchor="ctr">
            <a:noAutofit/>
          </a:bodyPr>
          <a:lstStyle/>
          <a:p>
            <a:pPr algn="ctr" indent="0" marL="0">
              <a:buNone/>
            </a:pPr>
            <a:r>
              <a:rPr lang="en-US" sz="2200" dirty="0">
                <a:solidFill>
                  <a:srgbClr val="000000"/>
                </a:solidFill>
                <a:latin typeface="Comic Sans MS" pitchFamily="34" charset="0"/>
                <a:ea typeface="Comic Sans MS" pitchFamily="34" charset="-122"/>
                <a:cs typeface="Comic Sans MS" pitchFamily="34" charset="-120"/>
              </a:rPr>
              <a:t>?</a:t>
            </a:r>
            <a:endParaRPr lang="en-US" sz="2200" dirty="0"/>
          </a:p>
        </p:txBody>
      </p:sp>
      <p:sp>
        <p:nvSpPr>
          <p:cNvPr id="28" name="Shape 26"/>
          <p:cNvSpPr/>
          <p:nvPr/>
        </p:nvSpPr>
        <p:spPr>
          <a:xfrm>
            <a:off x="420624" y="2987040"/>
            <a:ext cx="2837612" cy="880872"/>
          </a:xfrm>
          <a:prstGeom prst="rect">
            <a:avLst/>
          </a:prstGeom>
          <a:solidFill>
            <a:srgbClr val="D6EEFF"/>
          </a:solidFill>
          <a:ln w="12700">
            <a:solidFill>
              <a:srgbClr val="CCCCCC"/>
            </a:solidFill>
            <a:prstDash val="solid"/>
          </a:ln>
        </p:spPr>
        <p:txBody>
          <a:bodyPr/>
          <a:p/>
        </p:txBody>
      </p:sp>
      <p:sp>
        <p:nvSpPr>
          <p:cNvPr id="29" name="GROWFIT__table-text-340-720-12653-3630__54__MIN20__table-cell-2-0"/>
          <p:cNvSpPr/>
          <p:nvPr/>
        </p:nvSpPr>
        <p:spPr>
          <a:xfrm>
            <a:off x="420624" y="2987040"/>
            <a:ext cx="2837612" cy="880872"/>
          </a:xfrm>
          <a:prstGeom prst="rect">
            <a:avLst/>
          </a:prstGeom>
          <a:noFill/>
          <a:ln/>
        </p:spPr>
        <p:txBody>
          <a:bodyPr wrap="square" lIns="0" tIns="0" rIns="0" bIns="0" rtlCol="0" anchor="ctr">
            <a:noAutofit/>
          </a:bodyPr>
          <a:lstStyle/>
          <a:p>
            <a:pPr algn="ctr" indent="0" marL="0">
              <a:buNone/>
            </a:pPr>
            <a:r>
              <a:rPr lang="en-US" sz="2200" b="1" dirty="0">
                <a:solidFill>
                  <a:srgbClr val="000000"/>
                </a:solidFill>
                <a:latin typeface="Comic Sans MS" pitchFamily="34" charset="0"/>
                <a:ea typeface="Comic Sans MS" pitchFamily="34" charset="-122"/>
                <a:cs typeface="Comic Sans MS" pitchFamily="34" charset="-120"/>
              </a:rPr>
              <a:t>Fridge</a:t>
            </a:r>
            <a:endParaRPr lang="en-US" sz="2200" dirty="0"/>
          </a:p>
        </p:txBody>
      </p:sp>
      <p:sp>
        <p:nvSpPr>
          <p:cNvPr id="30" name="Shape 28"/>
          <p:cNvSpPr/>
          <p:nvPr/>
        </p:nvSpPr>
        <p:spPr>
          <a:xfrm>
            <a:off x="3258236" y="2987040"/>
            <a:ext cx="2837612" cy="880872"/>
          </a:xfrm>
          <a:prstGeom prst="rect">
            <a:avLst/>
          </a:prstGeom>
          <a:solidFill>
            <a:srgbClr val="D6EEFF"/>
          </a:solidFill>
          <a:ln w="12700">
            <a:solidFill>
              <a:srgbClr val="CCCCCC"/>
            </a:solidFill>
            <a:prstDash val="solid"/>
          </a:ln>
        </p:spPr>
        <p:txBody>
          <a:bodyPr/>
          <a:p/>
        </p:txBody>
      </p:sp>
      <p:sp>
        <p:nvSpPr>
          <p:cNvPr id="31" name="GROWFIT__table-text-340-720-12653-3630__54__MIN20__table-cell-2-1"/>
          <p:cNvSpPr/>
          <p:nvPr/>
        </p:nvSpPr>
        <p:spPr>
          <a:xfrm>
            <a:off x="3258236" y="2987040"/>
            <a:ext cx="2837612" cy="880872"/>
          </a:xfrm>
          <a:prstGeom prst="rect">
            <a:avLst/>
          </a:prstGeom>
          <a:noFill/>
          <a:ln/>
        </p:spPr>
        <p:txBody>
          <a:bodyPr wrap="square" lIns="0" tIns="0" rIns="0" bIns="0" rtlCol="0" anchor="ctr">
            <a:noAutofit/>
          </a:bodyPr>
          <a:lstStyle/>
          <a:p>
            <a:pPr algn="ctr" indent="0" marL="0">
              <a:buNone/>
            </a:pPr>
            <a:r>
              <a:rPr lang="en-US" sz="2200" dirty="0">
                <a:solidFill>
                  <a:srgbClr val="000000"/>
                </a:solidFill>
                <a:latin typeface="Comic Sans MS" pitchFamily="34" charset="0"/>
                <a:ea typeface="Comic Sans MS" pitchFamily="34" charset="-122"/>
                <a:cs typeface="Comic Sans MS" pitchFamily="34" charset="-120"/>
              </a:rPr>
              <a:t>50 ml</a:t>
            </a:r>
            <a:endParaRPr lang="en-US" sz="2200" dirty="0"/>
          </a:p>
        </p:txBody>
      </p:sp>
      <p:sp>
        <p:nvSpPr>
          <p:cNvPr id="32" name="Shape 30"/>
          <p:cNvSpPr/>
          <p:nvPr/>
        </p:nvSpPr>
        <p:spPr>
          <a:xfrm>
            <a:off x="6095848" y="2987040"/>
            <a:ext cx="2837612" cy="880872"/>
          </a:xfrm>
          <a:prstGeom prst="rect">
            <a:avLst/>
          </a:prstGeom>
          <a:solidFill>
            <a:srgbClr val="D6EEFF"/>
          </a:solidFill>
          <a:ln w="12700">
            <a:solidFill>
              <a:srgbClr val="CCCCCC"/>
            </a:solidFill>
            <a:prstDash val="solid"/>
          </a:ln>
        </p:spPr>
        <p:txBody>
          <a:bodyPr/>
          <a:p/>
        </p:txBody>
      </p:sp>
      <p:sp>
        <p:nvSpPr>
          <p:cNvPr id="33" name="GROWFIT__table-text-340-720-12653-3630__54__MIN20__table-cell-2-2"/>
          <p:cNvSpPr/>
          <p:nvPr/>
        </p:nvSpPr>
        <p:spPr>
          <a:xfrm>
            <a:off x="6095848" y="2987040"/>
            <a:ext cx="2837612" cy="880872"/>
          </a:xfrm>
          <a:prstGeom prst="rect">
            <a:avLst/>
          </a:prstGeom>
          <a:noFill/>
          <a:ln/>
        </p:spPr>
        <p:txBody>
          <a:bodyPr wrap="square" lIns="0" tIns="0" rIns="0" bIns="0" rtlCol="0" anchor="ctr">
            <a:noAutofit/>
          </a:bodyPr>
          <a:lstStyle/>
          <a:p>
            <a:pPr algn="ctr" indent="0" marL="0">
              <a:buNone/>
            </a:pPr>
            <a:r>
              <a:rPr lang="en-US" sz="2200" dirty="0">
                <a:solidFill>
                  <a:srgbClr val="000000"/>
                </a:solidFill>
                <a:latin typeface="Comic Sans MS" pitchFamily="34" charset="0"/>
                <a:ea typeface="Comic Sans MS" pitchFamily="34" charset="-122"/>
                <a:cs typeface="Comic Sans MS" pitchFamily="34" charset="-120"/>
              </a:rPr>
              <a:t>48 ml</a:t>
            </a:r>
            <a:endParaRPr lang="en-US" sz="2200" dirty="0"/>
          </a:p>
        </p:txBody>
      </p:sp>
      <p:sp>
        <p:nvSpPr>
          <p:cNvPr id="34" name="Shape 32"/>
          <p:cNvSpPr/>
          <p:nvPr/>
        </p:nvSpPr>
        <p:spPr>
          <a:xfrm>
            <a:off x="8933459" y="2987040"/>
            <a:ext cx="2837612" cy="880872"/>
          </a:xfrm>
          <a:prstGeom prst="rect">
            <a:avLst/>
          </a:prstGeom>
          <a:solidFill>
            <a:srgbClr val="D6EEFF"/>
          </a:solidFill>
          <a:ln w="12700">
            <a:solidFill>
              <a:srgbClr val="CCCCCC"/>
            </a:solidFill>
            <a:prstDash val="solid"/>
          </a:ln>
        </p:spPr>
        <p:txBody>
          <a:bodyPr/>
          <a:p/>
        </p:txBody>
      </p:sp>
      <p:sp>
        <p:nvSpPr>
          <p:cNvPr id="35" name="GROWFIT__table-text-340-720-12653-3630__54__MIN20__table-cell-2-3"/>
          <p:cNvSpPr/>
          <p:nvPr/>
        </p:nvSpPr>
        <p:spPr>
          <a:xfrm>
            <a:off x="8933459" y="2987040"/>
            <a:ext cx="2837612" cy="880872"/>
          </a:xfrm>
          <a:prstGeom prst="rect">
            <a:avLst/>
          </a:prstGeom>
          <a:noFill/>
          <a:ln/>
        </p:spPr>
        <p:txBody>
          <a:bodyPr wrap="square" lIns="0" tIns="0" rIns="0" bIns="0" rtlCol="0" anchor="ctr">
            <a:noAutofit/>
          </a:bodyPr>
          <a:lstStyle/>
          <a:p>
            <a:pPr algn="ctr" indent="0" marL="0">
              <a:buNone/>
            </a:pPr>
            <a:r>
              <a:rPr lang="en-US" sz="2200" dirty="0">
                <a:solidFill>
                  <a:srgbClr val="000000"/>
                </a:solidFill>
                <a:latin typeface="Comic Sans MS" pitchFamily="34" charset="0"/>
                <a:ea typeface="Comic Sans MS" pitchFamily="34" charset="-122"/>
                <a:cs typeface="Comic Sans MS" pitchFamily="34" charset="-120"/>
              </a:rPr>
              <a:t>?</a:t>
            </a:r>
            <a:endParaRPr lang="en-US" sz="2200" dirty="0"/>
          </a:p>
        </p:txBody>
      </p:sp>
      <p:sp>
        <p:nvSpPr>
          <p:cNvPr id="36" name="Shape 34"/>
          <p:cNvSpPr/>
          <p:nvPr/>
        </p:nvSpPr>
        <p:spPr>
          <a:xfrm>
            <a:off x="201168" y="4270248"/>
            <a:ext cx="11789359" cy="1121664"/>
          </a:xfrm>
          <a:prstGeom prst="roundRect">
            <a:avLst>
              <a:gd name="adj" fmla="val 6522"/>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37" name="Text 35"/>
          <p:cNvSpPr/>
          <p:nvPr/>
        </p:nvSpPr>
        <p:spPr>
          <a:xfrm>
            <a:off x="274320" y="4343400"/>
            <a:ext cx="11643055" cy="975360"/>
          </a:xfrm>
          <a:prstGeom prst="rect">
            <a:avLst/>
          </a:prstGeom>
          <a:noFill/>
          <a:ln/>
        </p:spPr>
        <p:txBody>
          <a:bodyPr wrap="square" lIns="0" tIns="0" rIns="0" bIns="0" rtlCol="0" anchor="ctr">
            <a:noAutofit/>
          </a:bodyPr>
          <a:lstStyle/>
          <a:p>
            <a:pPr algn="l" indent="0" marL="0">
              <a:buNone/>
            </a:pPr>
            <a:r>
              <a:rPr lang="en-US" sz="2800" b="1" dirty="0">
                <a:solidFill>
                  <a:srgbClr val="000000"/>
                </a:solidFill>
                <a:latin typeface="Comic Sans MS" pitchFamily="34" charset="0"/>
                <a:ea typeface="Comic Sans MS" pitchFamily="34" charset="-122"/>
                <a:cs typeface="Comic Sans MS" pitchFamily="34" charset="-120"/>
              </a:rPr>
              <a:t>Watch out! The table shows the water left in each saucer. We want the water that went into the air.</a:t>
            </a:r>
            <a:endParaRPr lang="en-US" sz="2800" dirty="0"/>
          </a:p>
        </p:txBody>
      </p:sp>
      <p:sp>
        <p:nvSpPr>
          <p:cNvPr id="38" name="Shape 36"/>
          <p:cNvSpPr/>
          <p:nvPr/>
        </p:nvSpPr>
        <p:spPr>
          <a:xfrm>
            <a:off x="201168" y="5495544"/>
            <a:ext cx="11789359" cy="1121664"/>
          </a:xfrm>
          <a:prstGeom prst="roundRect">
            <a:avLst>
              <a:gd name="adj" fmla="val 6522"/>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39" name="Text 37"/>
          <p:cNvSpPr/>
          <p:nvPr/>
        </p:nvSpPr>
        <p:spPr>
          <a:xfrm>
            <a:off x="274320" y="5568696"/>
            <a:ext cx="11643055" cy="975360"/>
          </a:xfrm>
          <a:prstGeom prst="rect">
            <a:avLst/>
          </a:prstGeom>
          <a:noFill/>
          <a:ln/>
        </p:spPr>
        <p:txBody>
          <a:bodyPr wrap="square" lIns="0" tIns="0" rIns="0" bIns="0" rtlCol="0" anchor="ctr">
            <a:noAutofit/>
          </a:bodyPr>
          <a:lstStyle/>
          <a:p>
            <a:pPr algn="l" indent="0" marL="0">
              <a:buNone/>
            </a:pPr>
            <a:r>
              <a:rPr lang="en-US" sz="2800" b="1" dirty="0">
                <a:solidFill>
                  <a:srgbClr val="0070C0"/>
                </a:solidFill>
                <a:latin typeface="Comic Sans MS" pitchFamily="34" charset="0"/>
                <a:ea typeface="Comic Sans MS" pitchFamily="34" charset="-122"/>
                <a:cs typeface="Comic Sans MS" pitchFamily="34" charset="-120"/>
              </a:rPr>
              <a:t>Work out how much water evaporated from the saucer on the shelf and the saucer in the fridge.</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D9C7"/>
        </a:solidFill>
      </p:bgPr>
    </p:bg>
    <p:spTree>
      <p:nvGrpSpPr>
        <p:cNvPr id="1" name=""/>
        <p:cNvGrpSpPr/>
        <p:nvPr/>
      </p:nvGrpSpPr>
      <p:grpSpPr>
        <a:xfrm>
          <a:off x="0" y="0"/>
          <a:ext cx="0" cy="0"/>
          <a:chOff x="0" y="0"/>
          <a:chExt cx="0" cy="0"/>
        </a:xfrm>
      </p:grpSpPr>
      <p:sp>
        <p:nvSpPr>
          <p:cNvPr id="2" name="Text 0"/>
          <p:cNvSpPr/>
          <p:nvPr/>
        </p:nvSpPr>
        <p:spPr>
          <a:xfrm>
            <a:off x="64008" y="0"/>
            <a:ext cx="7315200" cy="493776"/>
          </a:xfrm>
          <a:prstGeom prst="rect">
            <a:avLst/>
          </a:prstGeom>
          <a:noFill/>
          <a:ln/>
        </p:spPr>
        <p:txBody>
          <a:bodyPr wrap="square" lIns="0" tIns="0" rIns="0" bIns="0" rtlCol="0" anchor="t">
            <a:noAutofit/>
          </a:bodyPr>
          <a:lstStyle/>
          <a:p>
            <a:pPr algn="l" indent="0" marL="0">
              <a:buNone/>
            </a:pPr>
            <a:r>
              <a:rPr lang="en-US" sz="2800" b="1" u="sng" dirty="0">
                <a:solidFill>
                  <a:srgbClr val="0070C0"/>
                </a:solidFill>
                <a:latin typeface="Comic Sans MS" pitchFamily="34" charset="0"/>
                <a:ea typeface="Comic Sans MS" pitchFamily="34" charset="-122"/>
                <a:cs typeface="Comic Sans MS" pitchFamily="34" charset="-120"/>
              </a:rPr>
              <a:t>What do our results show?</a:t>
            </a:r>
            <a:endParaRPr lang="en-US" sz="2800" dirty="0"/>
          </a:p>
        </p:txBody>
      </p:sp>
      <p:sp>
        <p:nvSpPr>
          <p:cNvPr id="3" name="Shape 1"/>
          <p:cNvSpPr/>
          <p:nvPr/>
        </p:nvSpPr>
        <p:spPr>
          <a:xfrm>
            <a:off x="201168" y="548640"/>
            <a:ext cx="5803240" cy="6080760"/>
          </a:xfrm>
          <a:prstGeom prst="roundRect">
            <a:avLst>
              <a:gd name="adj" fmla="val 1261"/>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4" name="Shape 2"/>
          <p:cNvSpPr/>
          <p:nvPr/>
        </p:nvSpPr>
        <p:spPr>
          <a:xfrm>
            <a:off x="420624" y="768096"/>
            <a:ext cx="2682164" cy="457200"/>
          </a:xfrm>
          <a:prstGeom prst="rect">
            <a:avLst/>
          </a:prstGeom>
          <a:solidFill>
            <a:srgbClr val="3A3A3A"/>
          </a:solidFill>
          <a:ln w="12700">
            <a:solidFill>
              <a:srgbClr val="3A3A3A"/>
            </a:solidFill>
            <a:prstDash val="solid"/>
          </a:ln>
        </p:spPr>
        <p:txBody>
          <a:bodyPr/>
          <a:p/>
        </p:txBody>
      </p:sp>
      <p:sp>
        <p:nvSpPr>
          <p:cNvPr id="5" name="GROWFIT__table-text-340-720-6107-6410__40__MIN20__table-header-0"/>
          <p:cNvSpPr/>
          <p:nvPr/>
        </p:nvSpPr>
        <p:spPr>
          <a:xfrm>
            <a:off x="420624" y="768096"/>
            <a:ext cx="2682164" cy="457200"/>
          </a:xfrm>
          <a:prstGeom prst="rect">
            <a:avLst/>
          </a:prstGeom>
          <a:noFill/>
          <a:ln/>
        </p:spPr>
        <p:txBody>
          <a:bodyPr wrap="square" lIns="0" tIns="0" rIns="0" bIns="0" rtlCol="0" anchor="ctr">
            <a:noAutofit/>
          </a:bodyPr>
          <a:lstStyle/>
          <a:p>
            <a:pPr algn="ctr" indent="0" marL="0">
              <a:buNone/>
            </a:pPr>
            <a:r>
              <a:rPr lang="en-US" sz="2700" b="1" dirty="0">
                <a:solidFill>
                  <a:srgbClr val="FFFFFF"/>
                </a:solidFill>
                <a:latin typeface="Comic Sans MS" pitchFamily="34" charset="0"/>
                <a:ea typeface="Comic Sans MS" pitchFamily="34" charset="-122"/>
                <a:cs typeface="Comic Sans MS" pitchFamily="34" charset="-120"/>
              </a:rPr>
              <a:t>Where it was</a:t>
            </a:r>
            <a:endParaRPr lang="en-US" sz="2700" dirty="0"/>
          </a:p>
        </p:txBody>
      </p:sp>
      <p:sp>
        <p:nvSpPr>
          <p:cNvPr id="6" name="Shape 4"/>
          <p:cNvSpPr/>
          <p:nvPr/>
        </p:nvSpPr>
        <p:spPr>
          <a:xfrm>
            <a:off x="3102788" y="768096"/>
            <a:ext cx="2682164" cy="457200"/>
          </a:xfrm>
          <a:prstGeom prst="rect">
            <a:avLst/>
          </a:prstGeom>
          <a:solidFill>
            <a:srgbClr val="3A3A3A"/>
          </a:solidFill>
          <a:ln w="12700">
            <a:solidFill>
              <a:srgbClr val="3A3A3A"/>
            </a:solidFill>
            <a:prstDash val="solid"/>
          </a:ln>
        </p:spPr>
        <p:txBody>
          <a:bodyPr/>
          <a:p/>
        </p:txBody>
      </p:sp>
      <p:sp>
        <p:nvSpPr>
          <p:cNvPr id="7" name="GROWFIT__table-text-340-720-6107-6410__40__MIN20__table-header-1"/>
          <p:cNvSpPr/>
          <p:nvPr/>
        </p:nvSpPr>
        <p:spPr>
          <a:xfrm>
            <a:off x="3102788" y="768096"/>
            <a:ext cx="2682164" cy="457200"/>
          </a:xfrm>
          <a:prstGeom prst="rect">
            <a:avLst/>
          </a:prstGeom>
          <a:noFill/>
          <a:ln/>
        </p:spPr>
        <p:txBody>
          <a:bodyPr wrap="square" lIns="0" tIns="0" rIns="0" bIns="0" rtlCol="0" anchor="ctr">
            <a:noAutofit/>
          </a:bodyPr>
          <a:lstStyle/>
          <a:p>
            <a:pPr algn="ctr" indent="0" marL="0">
              <a:buNone/>
            </a:pPr>
            <a:r>
              <a:rPr lang="en-US" sz="2700" b="1" dirty="0">
                <a:solidFill>
                  <a:srgbClr val="FFFFFF"/>
                </a:solidFill>
                <a:latin typeface="Comic Sans MS" pitchFamily="34" charset="0"/>
                <a:ea typeface="Comic Sans MS" pitchFamily="34" charset="-122"/>
                <a:cs typeface="Comic Sans MS" pitchFamily="34" charset="-120"/>
              </a:rPr>
              <a:t>Evaporated</a:t>
            </a:r>
            <a:endParaRPr lang="en-US" sz="2700" dirty="0"/>
          </a:p>
        </p:txBody>
      </p:sp>
      <p:sp>
        <p:nvSpPr>
          <p:cNvPr id="8" name="Shape 6"/>
          <p:cNvSpPr/>
          <p:nvPr/>
        </p:nvSpPr>
        <p:spPr>
          <a:xfrm>
            <a:off x="420624" y="1225296"/>
            <a:ext cx="2682164" cy="1728216"/>
          </a:xfrm>
          <a:prstGeom prst="rect">
            <a:avLst/>
          </a:prstGeom>
          <a:solidFill>
            <a:srgbClr val="FFE0C2"/>
          </a:solidFill>
          <a:ln w="12700">
            <a:solidFill>
              <a:srgbClr val="CCCCCC"/>
            </a:solidFill>
            <a:prstDash val="solid"/>
          </a:ln>
        </p:spPr>
        <p:txBody>
          <a:bodyPr/>
          <a:p/>
        </p:txBody>
      </p:sp>
      <p:sp>
        <p:nvSpPr>
          <p:cNvPr id="9" name="GROWFIT__table-text-340-720-6107-6410__54__MIN20__table-cell-0-0"/>
          <p:cNvSpPr/>
          <p:nvPr/>
        </p:nvSpPr>
        <p:spPr>
          <a:xfrm>
            <a:off x="420624" y="1225296"/>
            <a:ext cx="2682164" cy="1728216"/>
          </a:xfrm>
          <a:prstGeom prst="rect">
            <a:avLst/>
          </a:prstGeom>
          <a:noFill/>
          <a:ln/>
        </p:spPr>
        <p:txBody>
          <a:bodyPr wrap="square" lIns="0" tIns="0" rIns="0" bIns="0" rtlCol="0" anchor="ctr">
            <a:noAutofit/>
          </a:bodyPr>
          <a:lstStyle/>
          <a:p>
            <a:pPr algn="ctr" indent="0" marL="0">
              <a:buNone/>
            </a:pPr>
            <a:r>
              <a:rPr lang="en-US" sz="2700" b="1" dirty="0">
                <a:solidFill>
                  <a:srgbClr val="000000"/>
                </a:solidFill>
                <a:latin typeface="Comic Sans MS" pitchFamily="34" charset="0"/>
                <a:ea typeface="Comic Sans MS" pitchFamily="34" charset="-122"/>
                <a:cs typeface="Comic Sans MS" pitchFamily="34" charset="-120"/>
              </a:rPr>
              <a:t>Sunny windowsill</a:t>
            </a:r>
            <a:endParaRPr lang="en-US" sz="2700" dirty="0"/>
          </a:p>
        </p:txBody>
      </p:sp>
      <p:sp>
        <p:nvSpPr>
          <p:cNvPr id="10" name="Shape 8"/>
          <p:cNvSpPr/>
          <p:nvPr/>
        </p:nvSpPr>
        <p:spPr>
          <a:xfrm>
            <a:off x="3102788" y="1225296"/>
            <a:ext cx="2682164" cy="1728216"/>
          </a:xfrm>
          <a:prstGeom prst="rect">
            <a:avLst/>
          </a:prstGeom>
          <a:solidFill>
            <a:srgbClr val="FFE0C2"/>
          </a:solidFill>
          <a:ln w="12700">
            <a:solidFill>
              <a:srgbClr val="CCCCCC"/>
            </a:solidFill>
            <a:prstDash val="solid"/>
          </a:ln>
        </p:spPr>
        <p:txBody>
          <a:bodyPr/>
          <a:p/>
        </p:txBody>
      </p:sp>
      <p:sp>
        <p:nvSpPr>
          <p:cNvPr id="11" name="GROWFIT__table-text-340-720-6107-6410__54__MIN20__table-cell-0-1"/>
          <p:cNvSpPr/>
          <p:nvPr/>
        </p:nvSpPr>
        <p:spPr>
          <a:xfrm>
            <a:off x="3102788" y="1225296"/>
            <a:ext cx="2682164" cy="1728216"/>
          </a:xfrm>
          <a:prstGeom prst="rect">
            <a:avLst/>
          </a:prstGeom>
          <a:noFill/>
          <a:ln/>
        </p:spPr>
        <p:txBody>
          <a:bodyPr wrap="square" lIns="0" tIns="0" rIns="0" bIns="0" rtlCol="0" anchor="ctr">
            <a:noAutofit/>
          </a:bodyPr>
          <a:lstStyle/>
          <a:p>
            <a:pPr algn="ctr" indent="0" marL="0">
              <a:buNone/>
            </a:pPr>
            <a:r>
              <a:rPr lang="en-US" sz="2700" dirty="0">
                <a:solidFill>
                  <a:srgbClr val="000000"/>
                </a:solidFill>
                <a:latin typeface="Comic Sans MS" pitchFamily="34" charset="0"/>
                <a:ea typeface="Comic Sans MS" pitchFamily="34" charset="-122"/>
                <a:cs typeface="Comic Sans MS" pitchFamily="34" charset="-120"/>
              </a:rPr>
              <a:t>40 ml</a:t>
            </a:r>
            <a:endParaRPr lang="en-US" sz="2700" dirty="0"/>
          </a:p>
        </p:txBody>
      </p:sp>
      <p:sp>
        <p:nvSpPr>
          <p:cNvPr id="12" name="Shape 10"/>
          <p:cNvSpPr/>
          <p:nvPr/>
        </p:nvSpPr>
        <p:spPr>
          <a:xfrm>
            <a:off x="420624" y="2953512"/>
            <a:ext cx="2682164" cy="1728216"/>
          </a:xfrm>
          <a:prstGeom prst="rect">
            <a:avLst/>
          </a:prstGeom>
          <a:solidFill>
            <a:srgbClr val="FFF8C2"/>
          </a:solidFill>
          <a:ln w="12700">
            <a:solidFill>
              <a:srgbClr val="CCCCCC"/>
            </a:solidFill>
            <a:prstDash val="solid"/>
          </a:ln>
        </p:spPr>
        <p:txBody>
          <a:bodyPr/>
          <a:p/>
        </p:txBody>
      </p:sp>
      <p:sp>
        <p:nvSpPr>
          <p:cNvPr id="13" name="GROWFIT__table-text-340-720-6107-6410__54__MIN20__table-cell-1-0"/>
          <p:cNvSpPr/>
          <p:nvPr/>
        </p:nvSpPr>
        <p:spPr>
          <a:xfrm>
            <a:off x="420624" y="2953512"/>
            <a:ext cx="2682164" cy="1728216"/>
          </a:xfrm>
          <a:prstGeom prst="rect">
            <a:avLst/>
          </a:prstGeom>
          <a:noFill/>
          <a:ln/>
        </p:spPr>
        <p:txBody>
          <a:bodyPr wrap="square" lIns="0" tIns="0" rIns="0" bIns="0" rtlCol="0" anchor="ctr">
            <a:noAutofit/>
          </a:bodyPr>
          <a:lstStyle/>
          <a:p>
            <a:pPr algn="ctr" indent="0" marL="0">
              <a:buNone/>
            </a:pPr>
            <a:r>
              <a:rPr lang="en-US" sz="2700" b="1" dirty="0">
                <a:solidFill>
                  <a:srgbClr val="000000"/>
                </a:solidFill>
                <a:latin typeface="Comic Sans MS" pitchFamily="34" charset="0"/>
                <a:ea typeface="Comic Sans MS" pitchFamily="34" charset="-122"/>
                <a:cs typeface="Comic Sans MS" pitchFamily="34" charset="-120"/>
              </a:rPr>
              <a:t>Classroom shelf</a:t>
            </a:r>
            <a:endParaRPr lang="en-US" sz="2700" dirty="0"/>
          </a:p>
        </p:txBody>
      </p:sp>
      <p:sp>
        <p:nvSpPr>
          <p:cNvPr id="14" name="Shape 12"/>
          <p:cNvSpPr/>
          <p:nvPr/>
        </p:nvSpPr>
        <p:spPr>
          <a:xfrm>
            <a:off x="3102788" y="2953512"/>
            <a:ext cx="2682164" cy="1728216"/>
          </a:xfrm>
          <a:prstGeom prst="rect">
            <a:avLst/>
          </a:prstGeom>
          <a:solidFill>
            <a:srgbClr val="FFF8C2"/>
          </a:solidFill>
          <a:ln w="12700">
            <a:solidFill>
              <a:srgbClr val="CCCCCC"/>
            </a:solidFill>
            <a:prstDash val="solid"/>
          </a:ln>
        </p:spPr>
        <p:txBody>
          <a:bodyPr/>
          <a:p/>
        </p:txBody>
      </p:sp>
      <p:sp>
        <p:nvSpPr>
          <p:cNvPr id="15" name="GROWFIT__table-text-340-720-6107-6410__54__MIN20__table-cell-1-1"/>
          <p:cNvSpPr/>
          <p:nvPr/>
        </p:nvSpPr>
        <p:spPr>
          <a:xfrm>
            <a:off x="3102788" y="2953512"/>
            <a:ext cx="2682164" cy="1728216"/>
          </a:xfrm>
          <a:prstGeom prst="rect">
            <a:avLst/>
          </a:prstGeom>
          <a:noFill/>
          <a:ln/>
        </p:spPr>
        <p:txBody>
          <a:bodyPr wrap="square" lIns="0" tIns="0" rIns="0" bIns="0" rtlCol="0" anchor="ctr">
            <a:noAutofit/>
          </a:bodyPr>
          <a:lstStyle/>
          <a:p>
            <a:pPr algn="ctr" indent="0" marL="0">
              <a:buNone/>
            </a:pPr>
            <a:r>
              <a:rPr lang="en-US" sz="2700" dirty="0">
                <a:solidFill>
                  <a:srgbClr val="000000"/>
                </a:solidFill>
                <a:latin typeface="Comic Sans MS" pitchFamily="34" charset="0"/>
                <a:ea typeface="Comic Sans MS" pitchFamily="34" charset="-122"/>
                <a:cs typeface="Comic Sans MS" pitchFamily="34" charset="-120"/>
              </a:rPr>
              <a:t>15 ml</a:t>
            </a:r>
            <a:endParaRPr lang="en-US" sz="2700" dirty="0"/>
          </a:p>
        </p:txBody>
      </p:sp>
      <p:sp>
        <p:nvSpPr>
          <p:cNvPr id="16" name="Shape 14"/>
          <p:cNvSpPr/>
          <p:nvPr/>
        </p:nvSpPr>
        <p:spPr>
          <a:xfrm>
            <a:off x="420624" y="4681728"/>
            <a:ext cx="2682164" cy="1728216"/>
          </a:xfrm>
          <a:prstGeom prst="rect">
            <a:avLst/>
          </a:prstGeom>
          <a:solidFill>
            <a:srgbClr val="D6EEFF"/>
          </a:solidFill>
          <a:ln w="12700">
            <a:solidFill>
              <a:srgbClr val="CCCCCC"/>
            </a:solidFill>
            <a:prstDash val="solid"/>
          </a:ln>
        </p:spPr>
        <p:txBody>
          <a:bodyPr/>
          <a:p/>
        </p:txBody>
      </p:sp>
      <p:sp>
        <p:nvSpPr>
          <p:cNvPr id="17" name="GROWFIT__table-text-340-720-6107-6410__54__MIN20__table-cell-2-0"/>
          <p:cNvSpPr/>
          <p:nvPr/>
        </p:nvSpPr>
        <p:spPr>
          <a:xfrm>
            <a:off x="420624" y="4681728"/>
            <a:ext cx="2682164" cy="1728216"/>
          </a:xfrm>
          <a:prstGeom prst="rect">
            <a:avLst/>
          </a:prstGeom>
          <a:noFill/>
          <a:ln/>
        </p:spPr>
        <p:txBody>
          <a:bodyPr wrap="square" lIns="0" tIns="0" rIns="0" bIns="0" rtlCol="0" anchor="ctr">
            <a:noAutofit/>
          </a:bodyPr>
          <a:lstStyle/>
          <a:p>
            <a:pPr algn="ctr" indent="0" marL="0">
              <a:buNone/>
            </a:pPr>
            <a:r>
              <a:rPr lang="en-US" sz="2700" b="1" dirty="0">
                <a:solidFill>
                  <a:srgbClr val="000000"/>
                </a:solidFill>
                <a:latin typeface="Comic Sans MS" pitchFamily="34" charset="0"/>
                <a:ea typeface="Comic Sans MS" pitchFamily="34" charset="-122"/>
                <a:cs typeface="Comic Sans MS" pitchFamily="34" charset="-120"/>
              </a:rPr>
              <a:t>Fridge</a:t>
            </a:r>
            <a:endParaRPr lang="en-US" sz="2700" dirty="0"/>
          </a:p>
        </p:txBody>
      </p:sp>
      <p:sp>
        <p:nvSpPr>
          <p:cNvPr id="18" name="Shape 16"/>
          <p:cNvSpPr/>
          <p:nvPr/>
        </p:nvSpPr>
        <p:spPr>
          <a:xfrm>
            <a:off x="3102788" y="4681728"/>
            <a:ext cx="2682164" cy="1728216"/>
          </a:xfrm>
          <a:prstGeom prst="rect">
            <a:avLst/>
          </a:prstGeom>
          <a:solidFill>
            <a:srgbClr val="D6EEFF"/>
          </a:solidFill>
          <a:ln w="12700">
            <a:solidFill>
              <a:srgbClr val="CCCCCC"/>
            </a:solidFill>
            <a:prstDash val="solid"/>
          </a:ln>
        </p:spPr>
        <p:txBody>
          <a:bodyPr/>
          <a:p/>
        </p:txBody>
      </p:sp>
      <p:sp>
        <p:nvSpPr>
          <p:cNvPr id="19" name="GROWFIT__table-text-340-720-6107-6410__54__MIN20__table-cell-2-1"/>
          <p:cNvSpPr/>
          <p:nvPr/>
        </p:nvSpPr>
        <p:spPr>
          <a:xfrm>
            <a:off x="3102788" y="4681728"/>
            <a:ext cx="2682164" cy="1728216"/>
          </a:xfrm>
          <a:prstGeom prst="rect">
            <a:avLst/>
          </a:prstGeom>
          <a:noFill/>
          <a:ln/>
        </p:spPr>
        <p:txBody>
          <a:bodyPr wrap="square" lIns="0" tIns="0" rIns="0" bIns="0" rtlCol="0" anchor="ctr">
            <a:noAutofit/>
          </a:bodyPr>
          <a:lstStyle/>
          <a:p>
            <a:pPr algn="ctr" indent="0" marL="0">
              <a:buNone/>
            </a:pPr>
            <a:r>
              <a:rPr lang="en-US" sz="2700" dirty="0">
                <a:solidFill>
                  <a:srgbClr val="000000"/>
                </a:solidFill>
                <a:latin typeface="Comic Sans MS" pitchFamily="34" charset="0"/>
                <a:ea typeface="Comic Sans MS" pitchFamily="34" charset="-122"/>
                <a:cs typeface="Comic Sans MS" pitchFamily="34" charset="-120"/>
              </a:rPr>
              <a:t>2 ml</a:t>
            </a:r>
            <a:endParaRPr lang="en-US" sz="2700" dirty="0"/>
          </a:p>
        </p:txBody>
      </p:sp>
      <p:sp>
        <p:nvSpPr>
          <p:cNvPr id="20" name="Shape 18"/>
          <p:cNvSpPr/>
          <p:nvPr/>
        </p:nvSpPr>
        <p:spPr>
          <a:xfrm>
            <a:off x="6187288" y="548640"/>
            <a:ext cx="5803240" cy="1121664"/>
          </a:xfrm>
          <a:prstGeom prst="roundRect">
            <a:avLst>
              <a:gd name="adj" fmla="val 6522"/>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21" name="Text 19"/>
          <p:cNvSpPr/>
          <p:nvPr/>
        </p:nvSpPr>
        <p:spPr>
          <a:xfrm>
            <a:off x="6260440" y="621792"/>
            <a:ext cx="5656936" cy="975360"/>
          </a:xfrm>
          <a:prstGeom prst="rect">
            <a:avLst/>
          </a:prstGeom>
          <a:noFill/>
          <a:ln/>
        </p:spPr>
        <p:txBody>
          <a:bodyPr wrap="square" lIns="0" tIns="0" rIns="0" bIns="0" rtlCol="0" anchor="ctr">
            <a:noAutofit/>
          </a:bodyPr>
          <a:lstStyle/>
          <a:p>
            <a:pPr algn="l" indent="0" marL="0">
              <a:buNone/>
            </a:pPr>
            <a:r>
              <a:rPr lang="en-US" sz="2800" b="1" dirty="0">
                <a:solidFill>
                  <a:srgbClr val="0070C0"/>
                </a:solidFill>
                <a:latin typeface="Comic Sans MS" pitchFamily="34" charset="0"/>
                <a:ea typeface="Comic Sans MS" pitchFamily="34" charset="-122"/>
                <a:cs typeface="Comic Sans MS" pitchFamily="34" charset="-120"/>
              </a:rPr>
              <a:t>Which sentence do our results show?</a:t>
            </a:r>
            <a:endParaRPr lang="en-US" sz="2800" dirty="0"/>
          </a:p>
        </p:txBody>
      </p:sp>
      <p:sp>
        <p:nvSpPr>
          <p:cNvPr id="22" name="Shape 20"/>
          <p:cNvSpPr/>
          <p:nvPr/>
        </p:nvSpPr>
        <p:spPr>
          <a:xfrm>
            <a:off x="6187288" y="1783080"/>
            <a:ext cx="5803240" cy="1121664"/>
          </a:xfrm>
          <a:prstGeom prst="roundRect">
            <a:avLst>
              <a:gd name="adj" fmla="val 6522"/>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23" name="GROWFIT__size-options__28__size-group"/>
          <p:cNvSpPr/>
          <p:nvPr/>
        </p:nvSpPr>
        <p:spPr>
          <a:xfrm>
            <a:off x="6260440" y="1856232"/>
            <a:ext cx="5656936" cy="975360"/>
          </a:xfrm>
          <a:prstGeom prst="rect">
            <a:avLst/>
          </a:prstGeom>
          <a:noFill/>
          <a:ln/>
        </p:spPr>
        <p:txBody>
          <a:bodyPr wrap="square" lIns="0" tIns="0" rIns="0" bIns="0" rtlCol="0" anchor="ctr">
            <a:noAutofit/>
          </a:bodyPr>
          <a:lstStyle/>
          <a:p>
            <a:pPr algn="l" indent="0" marL="0">
              <a:buNone/>
            </a:pPr>
            <a:r>
              <a:rPr lang="en-US" sz="2800" b="1" dirty="0">
                <a:solidFill>
                  <a:srgbClr val="000000"/>
                </a:solidFill>
                <a:latin typeface="Comic Sans MS" pitchFamily="34" charset="0"/>
                <a:ea typeface="Comic Sans MS" pitchFamily="34" charset="-122"/>
                <a:cs typeface="Comic Sans MS" pitchFamily="34" charset="-120"/>
              </a:rPr>
              <a:t>A: Water only evaporates in warm places.</a:t>
            </a:r>
            <a:endParaRPr lang="en-US" sz="2800" dirty="0"/>
          </a:p>
        </p:txBody>
      </p:sp>
      <p:sp>
        <p:nvSpPr>
          <p:cNvPr id="24" name="Shape 22"/>
          <p:cNvSpPr/>
          <p:nvPr/>
        </p:nvSpPr>
        <p:spPr>
          <a:xfrm>
            <a:off x="6187288" y="3017520"/>
            <a:ext cx="5803240" cy="1121664"/>
          </a:xfrm>
          <a:prstGeom prst="roundRect">
            <a:avLst>
              <a:gd name="adj" fmla="val 6522"/>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25" name="GROWFIT__size-options__28__size-group"/>
          <p:cNvSpPr/>
          <p:nvPr/>
        </p:nvSpPr>
        <p:spPr>
          <a:xfrm>
            <a:off x="6260440" y="3090672"/>
            <a:ext cx="5656936" cy="975360"/>
          </a:xfrm>
          <a:prstGeom prst="rect">
            <a:avLst/>
          </a:prstGeom>
          <a:noFill/>
          <a:ln/>
        </p:spPr>
        <p:txBody>
          <a:bodyPr wrap="square" lIns="0" tIns="0" rIns="0" bIns="0" rtlCol="0" anchor="ctr">
            <a:noAutofit/>
          </a:bodyPr>
          <a:lstStyle/>
          <a:p>
            <a:pPr algn="l" indent="0" marL="0">
              <a:buNone/>
            </a:pPr>
            <a:r>
              <a:rPr lang="en-US" sz="2800" b="1" dirty="0">
                <a:solidFill>
                  <a:srgbClr val="000000"/>
                </a:solidFill>
                <a:latin typeface="Comic Sans MS" pitchFamily="34" charset="0"/>
                <a:ea typeface="Comic Sans MS" pitchFamily="34" charset="-122"/>
                <a:cs typeface="Comic Sans MS" pitchFamily="34" charset="-120"/>
              </a:rPr>
              <a:t>B: The warmer the place, the more water evaporated.</a:t>
            </a:r>
            <a:endParaRPr lang="en-US" sz="2800" dirty="0"/>
          </a:p>
        </p:txBody>
      </p:sp>
      <p:sp>
        <p:nvSpPr>
          <p:cNvPr id="26" name="Shape 24"/>
          <p:cNvSpPr/>
          <p:nvPr/>
        </p:nvSpPr>
        <p:spPr>
          <a:xfrm>
            <a:off x="6187288" y="4251960"/>
            <a:ext cx="5803240" cy="1121664"/>
          </a:xfrm>
          <a:prstGeom prst="roundRect">
            <a:avLst>
              <a:gd name="adj" fmla="val 6522"/>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27" name="GROWFIT__size-options__28__size-group"/>
          <p:cNvSpPr/>
          <p:nvPr/>
        </p:nvSpPr>
        <p:spPr>
          <a:xfrm>
            <a:off x="6260440" y="4325112"/>
            <a:ext cx="5656936" cy="975360"/>
          </a:xfrm>
          <a:prstGeom prst="rect">
            <a:avLst/>
          </a:prstGeom>
          <a:noFill/>
          <a:ln/>
        </p:spPr>
        <p:txBody>
          <a:bodyPr wrap="square" lIns="0" tIns="0" rIns="0" bIns="0" rtlCol="0" anchor="ctr">
            <a:noAutofit/>
          </a:bodyPr>
          <a:lstStyle/>
          <a:p>
            <a:pPr algn="l" indent="0" marL="0">
              <a:buNone/>
            </a:pPr>
            <a:r>
              <a:rPr lang="en-US" sz="2800" b="1" dirty="0">
                <a:solidFill>
                  <a:srgbClr val="000000"/>
                </a:solidFill>
                <a:latin typeface="Comic Sans MS" pitchFamily="34" charset="0"/>
                <a:ea typeface="Comic Sans MS" pitchFamily="34" charset="-122"/>
                <a:cs typeface="Comic Sans MS" pitchFamily="34" charset="-120"/>
              </a:rPr>
              <a:t>C: The colder the place, the more water evaporated.</a:t>
            </a:r>
            <a:endParaRPr lang="en-US" sz="2800" dirty="0"/>
          </a:p>
        </p:txBody>
      </p:sp>
      <p:sp>
        <p:nvSpPr>
          <p:cNvPr id="28" name="Shape 26"/>
          <p:cNvSpPr/>
          <p:nvPr/>
        </p:nvSpPr>
        <p:spPr>
          <a:xfrm>
            <a:off x="6187288" y="5486400"/>
            <a:ext cx="5803240" cy="1143000"/>
          </a:xfrm>
          <a:prstGeom prst="roundRect">
            <a:avLst>
              <a:gd name="adj" fmla="val 6400"/>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29" name="Text 27"/>
          <p:cNvSpPr/>
          <p:nvPr/>
        </p:nvSpPr>
        <p:spPr>
          <a:xfrm>
            <a:off x="6260440" y="5559552"/>
            <a:ext cx="5656936" cy="996696"/>
          </a:xfrm>
          <a:prstGeom prst="rect">
            <a:avLst/>
          </a:prstGeom>
          <a:noFill/>
          <a:ln/>
        </p:spPr>
        <p:txBody>
          <a:bodyPr wrap="square" lIns="0" tIns="0" rIns="0" bIns="0" rtlCol="0" anchor="ctr">
            <a:noAutofit/>
          </a:bodyPr>
          <a:lstStyle/>
          <a:p>
            <a:pPr algn="l" indent="0" marL="0">
              <a:buNone/>
            </a:pPr>
            <a:r>
              <a:rPr lang="en-US" sz="2500" b="1" dirty="0">
                <a:solidFill>
                  <a:srgbClr val="0070C0"/>
                </a:solidFill>
                <a:latin typeface="Comic Sans MS" pitchFamily="34" charset="0"/>
                <a:ea typeface="Comic Sans MS" pitchFamily="34" charset="-122"/>
                <a:cs typeface="Comic Sans MS" pitchFamily="34" charset="-120"/>
              </a:rPr>
              <a:t>Choose one of the other sentences. Which saucer shows it's wrong?</a:t>
            </a:r>
            <a:endParaRPr lang="en-US" sz="2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D9C7"/>
        </a:solidFill>
      </p:bgPr>
    </p:bg>
    <p:spTree>
      <p:nvGrpSpPr>
        <p:cNvPr id="1" name=""/>
        <p:cNvGrpSpPr/>
        <p:nvPr/>
      </p:nvGrpSpPr>
      <p:grpSpPr>
        <a:xfrm>
          <a:off x="0" y="0"/>
          <a:ext cx="0" cy="0"/>
          <a:chOff x="0" y="0"/>
          <a:chExt cx="0" cy="0"/>
        </a:xfrm>
      </p:grpSpPr>
      <p:sp>
        <p:nvSpPr>
          <p:cNvPr id="2" name="Text 0"/>
          <p:cNvSpPr/>
          <p:nvPr/>
        </p:nvSpPr>
        <p:spPr>
          <a:xfrm>
            <a:off x="64008" y="0"/>
            <a:ext cx="7315200" cy="493776"/>
          </a:xfrm>
          <a:prstGeom prst="rect">
            <a:avLst/>
          </a:prstGeom>
          <a:noFill/>
          <a:ln/>
        </p:spPr>
        <p:txBody>
          <a:bodyPr wrap="square" lIns="0" tIns="0" rIns="0" bIns="0" rtlCol="0" anchor="t">
            <a:noAutofit/>
          </a:bodyPr>
          <a:lstStyle/>
          <a:p>
            <a:pPr algn="l" indent="0" marL="0">
              <a:buNone/>
            </a:pPr>
            <a:r>
              <a:rPr lang="en-US" sz="2600" b="1" u="sng" dirty="0">
                <a:solidFill>
                  <a:srgbClr val="0070C0"/>
                </a:solidFill>
                <a:latin typeface="Comic Sans MS" pitchFamily="34" charset="0"/>
                <a:ea typeface="Comic Sans MS" pitchFamily="34" charset="-122"/>
                <a:cs typeface="Comic Sans MS" pitchFamily="34" charset="-120"/>
              </a:rPr>
              <a:t>Which saucer was evaporating the fastest?</a:t>
            </a:r>
            <a:endParaRPr lang="en-US" sz="2600" dirty="0"/>
          </a:p>
        </p:txBody>
      </p:sp>
      <p:sp>
        <p:nvSpPr>
          <p:cNvPr id="3" name="Shape 1"/>
          <p:cNvSpPr/>
          <p:nvPr/>
        </p:nvSpPr>
        <p:spPr>
          <a:xfrm>
            <a:off x="201168" y="548640"/>
            <a:ext cx="5803240" cy="6080760"/>
          </a:xfrm>
          <a:prstGeom prst="roundRect">
            <a:avLst>
              <a:gd name="adj" fmla="val 1261"/>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4" name="Shape 2"/>
          <p:cNvSpPr/>
          <p:nvPr/>
        </p:nvSpPr>
        <p:spPr>
          <a:xfrm>
            <a:off x="420624" y="768096"/>
            <a:ext cx="2682164" cy="457200"/>
          </a:xfrm>
          <a:prstGeom prst="rect">
            <a:avLst/>
          </a:prstGeom>
          <a:solidFill>
            <a:srgbClr val="3A3A3A"/>
          </a:solidFill>
          <a:ln w="12700">
            <a:solidFill>
              <a:srgbClr val="3A3A3A"/>
            </a:solidFill>
            <a:prstDash val="solid"/>
          </a:ln>
        </p:spPr>
        <p:txBody>
          <a:bodyPr/>
          <a:p/>
        </p:txBody>
      </p:sp>
      <p:sp>
        <p:nvSpPr>
          <p:cNvPr id="5" name="GROWFIT__table-text-340-720-6107-6410__40__MIN20__table-header-0"/>
          <p:cNvSpPr/>
          <p:nvPr/>
        </p:nvSpPr>
        <p:spPr>
          <a:xfrm>
            <a:off x="420624" y="768096"/>
            <a:ext cx="2682164" cy="457200"/>
          </a:xfrm>
          <a:prstGeom prst="rect">
            <a:avLst/>
          </a:prstGeom>
          <a:noFill/>
          <a:ln/>
        </p:spPr>
        <p:txBody>
          <a:bodyPr wrap="square" lIns="0" tIns="0" rIns="0" bIns="0" rtlCol="0" anchor="ctr">
            <a:noAutofit/>
          </a:bodyPr>
          <a:lstStyle/>
          <a:p>
            <a:pPr algn="ctr" indent="0" marL="0">
              <a:buNone/>
            </a:pPr>
            <a:r>
              <a:rPr lang="en-US" sz="2700" b="1" dirty="0">
                <a:solidFill>
                  <a:srgbClr val="FFFFFF"/>
                </a:solidFill>
                <a:latin typeface="Comic Sans MS" pitchFamily="34" charset="0"/>
                <a:ea typeface="Comic Sans MS" pitchFamily="34" charset="-122"/>
                <a:cs typeface="Comic Sans MS" pitchFamily="34" charset="-120"/>
              </a:rPr>
              <a:t>Where it was</a:t>
            </a:r>
            <a:endParaRPr lang="en-US" sz="2700" dirty="0"/>
          </a:p>
        </p:txBody>
      </p:sp>
      <p:sp>
        <p:nvSpPr>
          <p:cNvPr id="6" name="Shape 4"/>
          <p:cNvSpPr/>
          <p:nvPr/>
        </p:nvSpPr>
        <p:spPr>
          <a:xfrm>
            <a:off x="3102788" y="768096"/>
            <a:ext cx="2682164" cy="457200"/>
          </a:xfrm>
          <a:prstGeom prst="rect">
            <a:avLst/>
          </a:prstGeom>
          <a:solidFill>
            <a:srgbClr val="3A3A3A"/>
          </a:solidFill>
          <a:ln w="12700">
            <a:solidFill>
              <a:srgbClr val="3A3A3A"/>
            </a:solidFill>
            <a:prstDash val="solid"/>
          </a:ln>
        </p:spPr>
        <p:txBody>
          <a:bodyPr/>
          <a:p/>
        </p:txBody>
      </p:sp>
      <p:sp>
        <p:nvSpPr>
          <p:cNvPr id="7" name="GROWFIT__table-text-340-720-6107-6410__40__MIN20__table-header-1"/>
          <p:cNvSpPr/>
          <p:nvPr/>
        </p:nvSpPr>
        <p:spPr>
          <a:xfrm>
            <a:off x="3102788" y="768096"/>
            <a:ext cx="2682164" cy="457200"/>
          </a:xfrm>
          <a:prstGeom prst="rect">
            <a:avLst/>
          </a:prstGeom>
          <a:noFill/>
          <a:ln/>
        </p:spPr>
        <p:txBody>
          <a:bodyPr wrap="square" lIns="0" tIns="0" rIns="0" bIns="0" rtlCol="0" anchor="ctr">
            <a:noAutofit/>
          </a:bodyPr>
          <a:lstStyle/>
          <a:p>
            <a:pPr algn="ctr" indent="0" marL="0">
              <a:buNone/>
            </a:pPr>
            <a:r>
              <a:rPr lang="en-US" sz="2700" b="1" dirty="0">
                <a:solidFill>
                  <a:srgbClr val="FFFFFF"/>
                </a:solidFill>
                <a:latin typeface="Comic Sans MS" pitchFamily="34" charset="0"/>
                <a:ea typeface="Comic Sans MS" pitchFamily="34" charset="-122"/>
                <a:cs typeface="Comic Sans MS" pitchFamily="34" charset="-120"/>
              </a:rPr>
              <a:t>Evaporated</a:t>
            </a:r>
            <a:endParaRPr lang="en-US" sz="2700" dirty="0"/>
          </a:p>
        </p:txBody>
      </p:sp>
      <p:sp>
        <p:nvSpPr>
          <p:cNvPr id="8" name="Shape 6"/>
          <p:cNvSpPr/>
          <p:nvPr/>
        </p:nvSpPr>
        <p:spPr>
          <a:xfrm>
            <a:off x="420624" y="1225296"/>
            <a:ext cx="2682164" cy="1728216"/>
          </a:xfrm>
          <a:prstGeom prst="rect">
            <a:avLst/>
          </a:prstGeom>
          <a:solidFill>
            <a:srgbClr val="FFE0C2"/>
          </a:solidFill>
          <a:ln w="12700">
            <a:solidFill>
              <a:srgbClr val="CCCCCC"/>
            </a:solidFill>
            <a:prstDash val="solid"/>
          </a:ln>
        </p:spPr>
        <p:txBody>
          <a:bodyPr/>
          <a:p/>
        </p:txBody>
      </p:sp>
      <p:sp>
        <p:nvSpPr>
          <p:cNvPr id="9" name="GROWFIT__table-text-340-720-6107-6410__54__MIN20__table-cell-0-0"/>
          <p:cNvSpPr/>
          <p:nvPr/>
        </p:nvSpPr>
        <p:spPr>
          <a:xfrm>
            <a:off x="420624" y="1225296"/>
            <a:ext cx="2682164" cy="1728216"/>
          </a:xfrm>
          <a:prstGeom prst="rect">
            <a:avLst/>
          </a:prstGeom>
          <a:noFill/>
          <a:ln/>
        </p:spPr>
        <p:txBody>
          <a:bodyPr wrap="square" lIns="0" tIns="0" rIns="0" bIns="0" rtlCol="0" anchor="ctr">
            <a:noAutofit/>
          </a:bodyPr>
          <a:lstStyle/>
          <a:p>
            <a:pPr algn="ctr" indent="0" marL="0">
              <a:buNone/>
            </a:pPr>
            <a:r>
              <a:rPr lang="en-US" sz="2700" b="1" dirty="0">
                <a:solidFill>
                  <a:srgbClr val="000000"/>
                </a:solidFill>
                <a:latin typeface="Comic Sans MS" pitchFamily="34" charset="0"/>
                <a:ea typeface="Comic Sans MS" pitchFamily="34" charset="-122"/>
                <a:cs typeface="Comic Sans MS" pitchFamily="34" charset="-120"/>
              </a:rPr>
              <a:t>Sunny windowsill</a:t>
            </a:r>
            <a:endParaRPr lang="en-US" sz="2700" dirty="0"/>
          </a:p>
        </p:txBody>
      </p:sp>
      <p:sp>
        <p:nvSpPr>
          <p:cNvPr id="10" name="Shape 8"/>
          <p:cNvSpPr/>
          <p:nvPr/>
        </p:nvSpPr>
        <p:spPr>
          <a:xfrm>
            <a:off x="3102788" y="1225296"/>
            <a:ext cx="2682164" cy="1728216"/>
          </a:xfrm>
          <a:prstGeom prst="rect">
            <a:avLst/>
          </a:prstGeom>
          <a:solidFill>
            <a:srgbClr val="FFE0C2"/>
          </a:solidFill>
          <a:ln w="12700">
            <a:solidFill>
              <a:srgbClr val="CCCCCC"/>
            </a:solidFill>
            <a:prstDash val="solid"/>
          </a:ln>
        </p:spPr>
        <p:txBody>
          <a:bodyPr/>
          <a:p/>
        </p:txBody>
      </p:sp>
      <p:sp>
        <p:nvSpPr>
          <p:cNvPr id="11" name="GROWFIT__table-text-340-720-6107-6410__54__MIN20__table-cell-0-1"/>
          <p:cNvSpPr/>
          <p:nvPr/>
        </p:nvSpPr>
        <p:spPr>
          <a:xfrm>
            <a:off x="3102788" y="1225296"/>
            <a:ext cx="2682164" cy="1728216"/>
          </a:xfrm>
          <a:prstGeom prst="rect">
            <a:avLst/>
          </a:prstGeom>
          <a:noFill/>
          <a:ln/>
        </p:spPr>
        <p:txBody>
          <a:bodyPr wrap="square" lIns="0" tIns="0" rIns="0" bIns="0" rtlCol="0" anchor="ctr">
            <a:noAutofit/>
          </a:bodyPr>
          <a:lstStyle/>
          <a:p>
            <a:pPr algn="ctr" indent="0" marL="0">
              <a:buNone/>
            </a:pPr>
            <a:r>
              <a:rPr lang="en-US" sz="2700" dirty="0">
                <a:solidFill>
                  <a:srgbClr val="000000"/>
                </a:solidFill>
                <a:latin typeface="Comic Sans MS" pitchFamily="34" charset="0"/>
                <a:ea typeface="Comic Sans MS" pitchFamily="34" charset="-122"/>
                <a:cs typeface="Comic Sans MS" pitchFamily="34" charset="-120"/>
              </a:rPr>
              <a:t>40 ml</a:t>
            </a:r>
            <a:endParaRPr lang="en-US" sz="2700" dirty="0"/>
          </a:p>
        </p:txBody>
      </p:sp>
      <p:sp>
        <p:nvSpPr>
          <p:cNvPr id="12" name="Shape 10"/>
          <p:cNvSpPr/>
          <p:nvPr/>
        </p:nvSpPr>
        <p:spPr>
          <a:xfrm>
            <a:off x="420624" y="2953512"/>
            <a:ext cx="2682164" cy="1728216"/>
          </a:xfrm>
          <a:prstGeom prst="rect">
            <a:avLst/>
          </a:prstGeom>
          <a:solidFill>
            <a:srgbClr val="FFF8C2"/>
          </a:solidFill>
          <a:ln w="12700">
            <a:solidFill>
              <a:srgbClr val="CCCCCC"/>
            </a:solidFill>
            <a:prstDash val="solid"/>
          </a:ln>
        </p:spPr>
        <p:txBody>
          <a:bodyPr/>
          <a:p/>
        </p:txBody>
      </p:sp>
      <p:sp>
        <p:nvSpPr>
          <p:cNvPr id="13" name="GROWFIT__table-text-340-720-6107-6410__54__MIN20__table-cell-1-0"/>
          <p:cNvSpPr/>
          <p:nvPr/>
        </p:nvSpPr>
        <p:spPr>
          <a:xfrm>
            <a:off x="420624" y="2953512"/>
            <a:ext cx="2682164" cy="1728216"/>
          </a:xfrm>
          <a:prstGeom prst="rect">
            <a:avLst/>
          </a:prstGeom>
          <a:noFill/>
          <a:ln/>
        </p:spPr>
        <p:txBody>
          <a:bodyPr wrap="square" lIns="0" tIns="0" rIns="0" bIns="0" rtlCol="0" anchor="ctr">
            <a:noAutofit/>
          </a:bodyPr>
          <a:lstStyle/>
          <a:p>
            <a:pPr algn="ctr" indent="0" marL="0">
              <a:buNone/>
            </a:pPr>
            <a:r>
              <a:rPr lang="en-US" sz="2700" b="1" dirty="0">
                <a:solidFill>
                  <a:srgbClr val="000000"/>
                </a:solidFill>
                <a:latin typeface="Comic Sans MS" pitchFamily="34" charset="0"/>
                <a:ea typeface="Comic Sans MS" pitchFamily="34" charset="-122"/>
                <a:cs typeface="Comic Sans MS" pitchFamily="34" charset="-120"/>
              </a:rPr>
              <a:t>Classroom shelf</a:t>
            </a:r>
            <a:endParaRPr lang="en-US" sz="2700" dirty="0"/>
          </a:p>
        </p:txBody>
      </p:sp>
      <p:sp>
        <p:nvSpPr>
          <p:cNvPr id="14" name="Shape 12"/>
          <p:cNvSpPr/>
          <p:nvPr/>
        </p:nvSpPr>
        <p:spPr>
          <a:xfrm>
            <a:off x="3102788" y="2953512"/>
            <a:ext cx="2682164" cy="1728216"/>
          </a:xfrm>
          <a:prstGeom prst="rect">
            <a:avLst/>
          </a:prstGeom>
          <a:solidFill>
            <a:srgbClr val="FFF8C2"/>
          </a:solidFill>
          <a:ln w="12700">
            <a:solidFill>
              <a:srgbClr val="CCCCCC"/>
            </a:solidFill>
            <a:prstDash val="solid"/>
          </a:ln>
        </p:spPr>
        <p:txBody>
          <a:bodyPr/>
          <a:p/>
        </p:txBody>
      </p:sp>
      <p:sp>
        <p:nvSpPr>
          <p:cNvPr id="15" name="GROWFIT__table-text-340-720-6107-6410__54__MIN20__table-cell-1-1"/>
          <p:cNvSpPr/>
          <p:nvPr/>
        </p:nvSpPr>
        <p:spPr>
          <a:xfrm>
            <a:off x="3102788" y="2953512"/>
            <a:ext cx="2682164" cy="1728216"/>
          </a:xfrm>
          <a:prstGeom prst="rect">
            <a:avLst/>
          </a:prstGeom>
          <a:noFill/>
          <a:ln/>
        </p:spPr>
        <p:txBody>
          <a:bodyPr wrap="square" lIns="0" tIns="0" rIns="0" bIns="0" rtlCol="0" anchor="ctr">
            <a:noAutofit/>
          </a:bodyPr>
          <a:lstStyle/>
          <a:p>
            <a:pPr algn="ctr" indent="0" marL="0">
              <a:buNone/>
            </a:pPr>
            <a:r>
              <a:rPr lang="en-US" sz="2700" dirty="0">
                <a:solidFill>
                  <a:srgbClr val="000000"/>
                </a:solidFill>
                <a:latin typeface="Comic Sans MS" pitchFamily="34" charset="0"/>
                <a:ea typeface="Comic Sans MS" pitchFamily="34" charset="-122"/>
                <a:cs typeface="Comic Sans MS" pitchFamily="34" charset="-120"/>
              </a:rPr>
              <a:t>15 ml</a:t>
            </a:r>
            <a:endParaRPr lang="en-US" sz="2700" dirty="0"/>
          </a:p>
        </p:txBody>
      </p:sp>
      <p:sp>
        <p:nvSpPr>
          <p:cNvPr id="16" name="Shape 14"/>
          <p:cNvSpPr/>
          <p:nvPr/>
        </p:nvSpPr>
        <p:spPr>
          <a:xfrm>
            <a:off x="420624" y="4681728"/>
            <a:ext cx="2682164" cy="1728216"/>
          </a:xfrm>
          <a:prstGeom prst="rect">
            <a:avLst/>
          </a:prstGeom>
          <a:solidFill>
            <a:srgbClr val="D6EEFF"/>
          </a:solidFill>
          <a:ln w="12700">
            <a:solidFill>
              <a:srgbClr val="CCCCCC"/>
            </a:solidFill>
            <a:prstDash val="solid"/>
          </a:ln>
        </p:spPr>
        <p:txBody>
          <a:bodyPr/>
          <a:p/>
        </p:txBody>
      </p:sp>
      <p:sp>
        <p:nvSpPr>
          <p:cNvPr id="17" name="GROWFIT__table-text-340-720-6107-6410__54__MIN20__table-cell-2-0"/>
          <p:cNvSpPr/>
          <p:nvPr/>
        </p:nvSpPr>
        <p:spPr>
          <a:xfrm>
            <a:off x="420624" y="4681728"/>
            <a:ext cx="2682164" cy="1728216"/>
          </a:xfrm>
          <a:prstGeom prst="rect">
            <a:avLst/>
          </a:prstGeom>
          <a:noFill/>
          <a:ln/>
        </p:spPr>
        <p:txBody>
          <a:bodyPr wrap="square" lIns="0" tIns="0" rIns="0" bIns="0" rtlCol="0" anchor="ctr">
            <a:noAutofit/>
          </a:bodyPr>
          <a:lstStyle/>
          <a:p>
            <a:pPr algn="ctr" indent="0" marL="0">
              <a:buNone/>
            </a:pPr>
            <a:r>
              <a:rPr lang="en-US" sz="2700" b="1" dirty="0">
                <a:solidFill>
                  <a:srgbClr val="000000"/>
                </a:solidFill>
                <a:latin typeface="Comic Sans MS" pitchFamily="34" charset="0"/>
                <a:ea typeface="Comic Sans MS" pitchFamily="34" charset="-122"/>
                <a:cs typeface="Comic Sans MS" pitchFamily="34" charset="-120"/>
              </a:rPr>
              <a:t>Fridge</a:t>
            </a:r>
            <a:endParaRPr lang="en-US" sz="2700" dirty="0"/>
          </a:p>
        </p:txBody>
      </p:sp>
      <p:sp>
        <p:nvSpPr>
          <p:cNvPr id="18" name="Shape 16"/>
          <p:cNvSpPr/>
          <p:nvPr/>
        </p:nvSpPr>
        <p:spPr>
          <a:xfrm>
            <a:off x="3102788" y="4681728"/>
            <a:ext cx="2682164" cy="1728216"/>
          </a:xfrm>
          <a:prstGeom prst="rect">
            <a:avLst/>
          </a:prstGeom>
          <a:solidFill>
            <a:srgbClr val="D6EEFF"/>
          </a:solidFill>
          <a:ln w="12700">
            <a:solidFill>
              <a:srgbClr val="CCCCCC"/>
            </a:solidFill>
            <a:prstDash val="solid"/>
          </a:ln>
        </p:spPr>
        <p:txBody>
          <a:bodyPr/>
          <a:p/>
        </p:txBody>
      </p:sp>
      <p:sp>
        <p:nvSpPr>
          <p:cNvPr id="19" name="GROWFIT__table-text-340-720-6107-6410__54__MIN20__table-cell-2-1"/>
          <p:cNvSpPr/>
          <p:nvPr/>
        </p:nvSpPr>
        <p:spPr>
          <a:xfrm>
            <a:off x="3102788" y="4681728"/>
            <a:ext cx="2682164" cy="1728216"/>
          </a:xfrm>
          <a:prstGeom prst="rect">
            <a:avLst/>
          </a:prstGeom>
          <a:noFill/>
          <a:ln/>
        </p:spPr>
        <p:txBody>
          <a:bodyPr wrap="square" lIns="0" tIns="0" rIns="0" bIns="0" rtlCol="0" anchor="ctr">
            <a:noAutofit/>
          </a:bodyPr>
          <a:lstStyle/>
          <a:p>
            <a:pPr algn="ctr" indent="0" marL="0">
              <a:buNone/>
            </a:pPr>
            <a:r>
              <a:rPr lang="en-US" sz="2700" dirty="0">
                <a:solidFill>
                  <a:srgbClr val="000000"/>
                </a:solidFill>
                <a:latin typeface="Comic Sans MS" pitchFamily="34" charset="0"/>
                <a:ea typeface="Comic Sans MS" pitchFamily="34" charset="-122"/>
                <a:cs typeface="Comic Sans MS" pitchFamily="34" charset="-120"/>
              </a:rPr>
              <a:t>2 ml</a:t>
            </a:r>
            <a:endParaRPr lang="en-US" sz="2700" dirty="0"/>
          </a:p>
        </p:txBody>
      </p:sp>
      <p:sp>
        <p:nvSpPr>
          <p:cNvPr id="20" name="Shape 18"/>
          <p:cNvSpPr/>
          <p:nvPr/>
        </p:nvSpPr>
        <p:spPr>
          <a:xfrm>
            <a:off x="6187288" y="548640"/>
            <a:ext cx="5803240" cy="1965960"/>
          </a:xfrm>
          <a:prstGeom prst="roundRect">
            <a:avLst>
              <a:gd name="adj" fmla="val 3721"/>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21" name="Text 19"/>
          <p:cNvSpPr/>
          <p:nvPr/>
        </p:nvSpPr>
        <p:spPr>
          <a:xfrm>
            <a:off x="6260440" y="621792"/>
            <a:ext cx="5656936" cy="1819656"/>
          </a:xfrm>
          <a:prstGeom prst="rect">
            <a:avLst/>
          </a:prstGeom>
          <a:noFill/>
          <a:ln/>
        </p:spPr>
        <p:txBody>
          <a:bodyPr wrap="square" lIns="0" tIns="0" rIns="0" bIns="0" rtlCol="0" anchor="ctr">
            <a:noAutofit/>
          </a:bodyPr>
          <a:lstStyle/>
          <a:p>
            <a:pPr algn="l" indent="0" marL="0">
              <a:buNone/>
            </a:pPr>
            <a:r>
              <a:rPr lang="en-US" sz="2700" b="1" dirty="0">
                <a:solidFill>
                  <a:srgbClr val="000000"/>
                </a:solidFill>
                <a:latin typeface="Comic Sans MS" pitchFamily="34" charset="0"/>
                <a:ea typeface="Comic Sans MS" pitchFamily="34" charset="-122"/>
                <a:cs typeface="Comic Sans MS" pitchFamily="34" charset="-120"/>
              </a:rPr>
              <a:t>All three saucers had exactly the same two days. So the saucer that lost the most water was evaporating the fastest.</a:t>
            </a:r>
            <a:endParaRPr lang="en-US" sz="2700" dirty="0"/>
          </a:p>
        </p:txBody>
      </p:sp>
      <p:sp>
        <p:nvSpPr>
          <p:cNvPr id="22" name="Shape 20"/>
          <p:cNvSpPr/>
          <p:nvPr/>
        </p:nvSpPr>
        <p:spPr>
          <a:xfrm>
            <a:off x="6187288" y="2606040"/>
            <a:ext cx="5803240" cy="1965960"/>
          </a:xfrm>
          <a:prstGeom prst="roundRect">
            <a:avLst>
              <a:gd name="adj" fmla="val 3721"/>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23" name="Text 21"/>
          <p:cNvSpPr/>
          <p:nvPr/>
        </p:nvSpPr>
        <p:spPr>
          <a:xfrm>
            <a:off x="6260440" y="2679192"/>
            <a:ext cx="5656936" cy="1819656"/>
          </a:xfrm>
          <a:prstGeom prst="rect">
            <a:avLst/>
          </a:prstGeom>
          <a:noFill/>
          <a:ln/>
        </p:spPr>
        <p:txBody>
          <a:bodyPr wrap="square" lIns="0" tIns="0" rIns="0" bIns="0" rtlCol="0" anchor="ctr">
            <a:noAutofit/>
          </a:bodyPr>
          <a:lstStyle/>
          <a:p>
            <a:pPr algn="l" indent="0" marL="0">
              <a:buNone/>
            </a:pPr>
            <a:r>
              <a:rPr lang="en-US" sz="2800" b="1" dirty="0">
                <a:solidFill>
                  <a:srgbClr val="000000"/>
                </a:solidFill>
                <a:latin typeface="Comic Sans MS" pitchFamily="34" charset="0"/>
                <a:ea typeface="Comic Sans MS" pitchFamily="34" charset="-122"/>
                <a:cs typeface="Comic Sans MS" pitchFamily="34" charset="-120"/>
              </a:rPr>
              <a:t>Even the fridge saucer lost 2 ml. Cold water still evaporates. It just happens very slowly.</a:t>
            </a:r>
            <a:endParaRPr lang="en-US" sz="2800" dirty="0"/>
          </a:p>
        </p:txBody>
      </p:sp>
      <p:sp>
        <p:nvSpPr>
          <p:cNvPr id="24" name="Shape 22"/>
          <p:cNvSpPr/>
          <p:nvPr/>
        </p:nvSpPr>
        <p:spPr>
          <a:xfrm>
            <a:off x="6187288" y="4663440"/>
            <a:ext cx="5803240" cy="1121664"/>
          </a:xfrm>
          <a:prstGeom prst="roundRect">
            <a:avLst>
              <a:gd name="adj" fmla="val 6522"/>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25" name="Text 23"/>
          <p:cNvSpPr/>
          <p:nvPr/>
        </p:nvSpPr>
        <p:spPr>
          <a:xfrm>
            <a:off x="6260440" y="4736592"/>
            <a:ext cx="5656936" cy="975360"/>
          </a:xfrm>
          <a:prstGeom prst="rect">
            <a:avLst/>
          </a:prstGeom>
          <a:noFill/>
          <a:ln/>
        </p:spPr>
        <p:txBody>
          <a:bodyPr wrap="square" lIns="0" tIns="0" rIns="0" bIns="0" rtlCol="0" anchor="ctr">
            <a:noAutofit/>
          </a:bodyPr>
          <a:lstStyle/>
          <a:p>
            <a:pPr algn="l" indent="0" marL="0">
              <a:buNone/>
            </a:pPr>
            <a:r>
              <a:rPr lang="en-US" sz="2800" b="1" dirty="0">
                <a:solidFill>
                  <a:srgbClr val="000000"/>
                </a:solidFill>
                <a:latin typeface="Comic Sans MS" pitchFamily="34" charset="0"/>
                <a:ea typeface="Comic Sans MS" pitchFamily="34" charset="-122"/>
                <a:cs typeface="Comic Sans MS" pitchFamily="34" charset="-120"/>
              </a:rPr>
              <a:t>The warmer the water, the faster it evaporates.</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D9C7"/>
        </a:solidFill>
      </p:bgPr>
    </p:bg>
    <p:spTree>
      <p:nvGrpSpPr>
        <p:cNvPr id="1" name=""/>
        <p:cNvGrpSpPr/>
        <p:nvPr/>
      </p:nvGrpSpPr>
      <p:grpSpPr>
        <a:xfrm>
          <a:off x="0" y="0"/>
          <a:ext cx="0" cy="0"/>
          <a:chOff x="0" y="0"/>
          <a:chExt cx="0" cy="0"/>
        </a:xfrm>
      </p:grpSpPr>
      <p:sp>
        <p:nvSpPr>
          <p:cNvPr id="2" name="Text 0"/>
          <p:cNvSpPr/>
          <p:nvPr/>
        </p:nvSpPr>
        <p:spPr>
          <a:xfrm>
            <a:off x="64008" y="0"/>
            <a:ext cx="7315200" cy="493776"/>
          </a:xfrm>
          <a:prstGeom prst="rect">
            <a:avLst/>
          </a:prstGeom>
          <a:noFill/>
          <a:ln/>
        </p:spPr>
        <p:txBody>
          <a:bodyPr wrap="square" lIns="0" tIns="0" rIns="0" bIns="0" rtlCol="0" anchor="t">
            <a:noAutofit/>
          </a:bodyPr>
          <a:lstStyle/>
          <a:p>
            <a:pPr algn="l" indent="0" marL="0">
              <a:buNone/>
            </a:pPr>
            <a:r>
              <a:rPr lang="en-US" sz="2800" b="1" u="sng" dirty="0">
                <a:solidFill>
                  <a:srgbClr val="0070C0"/>
                </a:solidFill>
                <a:latin typeface="Comic Sans MS" pitchFamily="34" charset="0"/>
                <a:ea typeface="Comic Sans MS" pitchFamily="34" charset="-122"/>
                <a:cs typeface="Comic Sans MS" pitchFamily="34" charset="-120"/>
              </a:rPr>
              <a:t>Is Leo right about the hot day?</a:t>
            </a:r>
            <a:endParaRPr lang="en-US" sz="2800" dirty="0"/>
          </a:p>
        </p:txBody>
      </p:sp>
      <p:sp>
        <p:nvSpPr>
          <p:cNvPr id="3" name="Shape 1"/>
          <p:cNvSpPr/>
          <p:nvPr/>
        </p:nvSpPr>
        <p:spPr>
          <a:xfrm>
            <a:off x="201168" y="548640"/>
            <a:ext cx="5803240" cy="1935480"/>
          </a:xfrm>
          <a:prstGeom prst="roundRect">
            <a:avLst>
              <a:gd name="adj" fmla="val 3780"/>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4" name="Text 2"/>
          <p:cNvSpPr/>
          <p:nvPr/>
        </p:nvSpPr>
        <p:spPr>
          <a:xfrm>
            <a:off x="274320" y="621792"/>
            <a:ext cx="5656936" cy="1789176"/>
          </a:xfrm>
          <a:prstGeom prst="rect">
            <a:avLst/>
          </a:prstGeom>
          <a:noFill/>
          <a:ln/>
        </p:spPr>
        <p:txBody>
          <a:bodyPr wrap="square" lIns="0" tIns="0" rIns="0" bIns="0" rtlCol="0" anchor="ctr">
            <a:noAutofit/>
          </a:bodyPr>
          <a:lstStyle/>
          <a:p>
            <a:pPr algn="l" indent="0" marL="0">
              <a:buNone/>
            </a:pPr>
            <a:r>
              <a:rPr lang="en-US" sz="2500" b="1" dirty="0">
                <a:solidFill>
                  <a:srgbClr val="000000"/>
                </a:solidFill>
                <a:latin typeface="Comic Sans MS" pitchFamily="34" charset="0"/>
                <a:ea typeface="Comic Sans MS" pitchFamily="34" charset="-122"/>
                <a:cs typeface="Comic Sans MS" pitchFamily="34" charset="-120"/>
              </a:rPr>
              <a:t>Two towels are just as wet as each other. One is hung outside on a hot, sunny day. The other is hung outside on a cold, cloudy day.</a:t>
            </a:r>
            <a:endParaRPr lang="en-US" sz="2500" dirty="0"/>
          </a:p>
        </p:txBody>
      </p:sp>
      <p:sp>
        <p:nvSpPr>
          <p:cNvPr id="5" name="Shape 3"/>
          <p:cNvSpPr/>
          <p:nvPr/>
        </p:nvSpPr>
        <p:spPr>
          <a:xfrm>
            <a:off x="201168" y="2575560"/>
            <a:ext cx="5803240" cy="1548384"/>
          </a:xfrm>
          <a:prstGeom prst="roundRect">
            <a:avLst>
              <a:gd name="adj" fmla="val 4724"/>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6" name="Text 4"/>
          <p:cNvSpPr/>
          <p:nvPr/>
        </p:nvSpPr>
        <p:spPr>
          <a:xfrm>
            <a:off x="274320" y="2648712"/>
            <a:ext cx="5656936" cy="1402080"/>
          </a:xfrm>
          <a:prstGeom prst="rect">
            <a:avLst/>
          </a:prstGeom>
          <a:noFill/>
          <a:ln/>
        </p:spPr>
        <p:txBody>
          <a:bodyPr wrap="square" lIns="0" tIns="0" rIns="0" bIns="0" rtlCol="0" anchor="ctr">
            <a:noAutofit/>
          </a:bodyPr>
          <a:lstStyle/>
          <a:p>
            <a:pPr algn="l" indent="0" marL="0">
              <a:buNone/>
            </a:pPr>
            <a:r>
              <a:rPr lang="en-US" sz="2400" b="1" dirty="0">
                <a:solidFill>
                  <a:srgbClr val="000000"/>
                </a:solidFill>
                <a:latin typeface="Comic Sans MS" pitchFamily="34" charset="0"/>
                <a:ea typeface="Comic Sans MS" pitchFamily="34" charset="-122"/>
                <a:cs typeface="Comic Sans MS" pitchFamily="34" charset="-120"/>
              </a:rPr>
              <a:t>Leo says: "The towel on the hot day will dry quicker, because the sun makes the water disappear faster."</a:t>
            </a:r>
            <a:endParaRPr lang="en-US" sz="2400" dirty="0"/>
          </a:p>
        </p:txBody>
      </p:sp>
      <p:sp>
        <p:nvSpPr>
          <p:cNvPr id="7" name="Shape 5"/>
          <p:cNvSpPr/>
          <p:nvPr/>
        </p:nvSpPr>
        <p:spPr>
          <a:xfrm>
            <a:off x="201168" y="4215384"/>
            <a:ext cx="5803240" cy="1548384"/>
          </a:xfrm>
          <a:prstGeom prst="roundRect">
            <a:avLst>
              <a:gd name="adj" fmla="val 4724"/>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8" name="Text 6"/>
          <p:cNvSpPr/>
          <p:nvPr/>
        </p:nvSpPr>
        <p:spPr>
          <a:xfrm>
            <a:off x="274320" y="4288536"/>
            <a:ext cx="5656936" cy="1402080"/>
          </a:xfrm>
          <a:prstGeom prst="rect">
            <a:avLst/>
          </a:prstGeom>
          <a:noFill/>
          <a:ln/>
        </p:spPr>
        <p:txBody>
          <a:bodyPr wrap="square" lIns="0" tIns="0" rIns="0" bIns="0" rtlCol="0" anchor="ctr">
            <a:noAutofit/>
          </a:bodyPr>
          <a:lstStyle/>
          <a:p>
            <a:pPr algn="l" indent="0" marL="0">
              <a:buNone/>
            </a:pPr>
            <a:r>
              <a:rPr lang="en-US" sz="2600" b="1" dirty="0">
                <a:solidFill>
                  <a:srgbClr val="0070C0"/>
                </a:solidFill>
                <a:latin typeface="Comic Sans MS" pitchFamily="34" charset="0"/>
                <a:ea typeface="Comic Sans MS" pitchFamily="34" charset="-122"/>
                <a:cs typeface="Comic Sans MS" pitchFamily="34" charset="-120"/>
              </a:rPr>
              <a:t>Is Leo right that the towel on the hot day will dry quicker? Use our saucer results to explain.</a:t>
            </a:r>
            <a:endParaRPr lang="en-US" sz="2600" dirty="0"/>
          </a:p>
        </p:txBody>
      </p:sp>
      <p:sp>
        <p:nvSpPr>
          <p:cNvPr id="9" name="Shape 7"/>
          <p:cNvSpPr/>
          <p:nvPr/>
        </p:nvSpPr>
        <p:spPr>
          <a:xfrm>
            <a:off x="201168" y="5855208"/>
            <a:ext cx="5803240" cy="652272"/>
          </a:xfrm>
          <a:prstGeom prst="roundRect">
            <a:avLst>
              <a:gd name="adj" fmla="val 11215"/>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10" name="Text 8"/>
          <p:cNvSpPr/>
          <p:nvPr/>
        </p:nvSpPr>
        <p:spPr>
          <a:xfrm>
            <a:off x="274320" y="5928360"/>
            <a:ext cx="5656936" cy="505968"/>
          </a:xfrm>
          <a:prstGeom prst="rect">
            <a:avLst/>
          </a:prstGeom>
          <a:noFill/>
          <a:ln/>
        </p:spPr>
        <p:txBody>
          <a:bodyPr wrap="square" lIns="0" tIns="0" rIns="0" bIns="0" rtlCol="0" anchor="ctr">
            <a:noAutofit/>
          </a:bodyPr>
          <a:lstStyle/>
          <a:p>
            <a:pPr algn="l" indent="0" marL="0">
              <a:buNone/>
            </a:pPr>
            <a:r>
              <a:rPr lang="en-US" sz="2800" b="1" dirty="0">
                <a:solidFill>
                  <a:srgbClr val="000000"/>
                </a:solidFill>
                <a:latin typeface="Comic Sans MS" pitchFamily="34" charset="0"/>
                <a:ea typeface="Comic Sans MS" pitchFamily="34" charset="-122"/>
                <a:cs typeface="Comic Sans MS" pitchFamily="34" charset="-120"/>
              </a:rPr>
              <a:t>Our saucer results show...</a:t>
            </a:r>
            <a:endParaRPr lang="en-US" sz="2800" dirty="0"/>
          </a:p>
        </p:txBody>
      </p:sp>
      <p:sp>
        <p:nvSpPr>
          <p:cNvPr id="11" name="Shape 9"/>
          <p:cNvSpPr/>
          <p:nvPr/>
        </p:nvSpPr>
        <p:spPr>
          <a:xfrm>
            <a:off x="6187288" y="548640"/>
            <a:ext cx="5803240" cy="6080760"/>
          </a:xfrm>
          <a:prstGeom prst="roundRect">
            <a:avLst>
              <a:gd name="adj" fmla="val 1261"/>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12" name="Shape 10"/>
          <p:cNvSpPr/>
          <p:nvPr/>
        </p:nvSpPr>
        <p:spPr>
          <a:xfrm>
            <a:off x="6406744" y="768096"/>
            <a:ext cx="2682164" cy="457200"/>
          </a:xfrm>
          <a:prstGeom prst="rect">
            <a:avLst/>
          </a:prstGeom>
          <a:solidFill>
            <a:srgbClr val="3A3A3A"/>
          </a:solidFill>
          <a:ln w="12700">
            <a:solidFill>
              <a:srgbClr val="3A3A3A"/>
            </a:solidFill>
            <a:prstDash val="solid"/>
          </a:ln>
        </p:spPr>
        <p:txBody>
          <a:bodyPr/>
          <a:p/>
        </p:txBody>
      </p:sp>
      <p:sp>
        <p:nvSpPr>
          <p:cNvPr id="13" name="GROWFIT__table-text-6887-720-6107-6410__40__MIN20__table-header-0"/>
          <p:cNvSpPr/>
          <p:nvPr/>
        </p:nvSpPr>
        <p:spPr>
          <a:xfrm>
            <a:off x="6406744" y="768096"/>
            <a:ext cx="2682164" cy="457200"/>
          </a:xfrm>
          <a:prstGeom prst="rect">
            <a:avLst/>
          </a:prstGeom>
          <a:noFill/>
          <a:ln/>
        </p:spPr>
        <p:txBody>
          <a:bodyPr wrap="square" lIns="0" tIns="0" rIns="0" bIns="0" rtlCol="0" anchor="ctr">
            <a:noAutofit/>
          </a:bodyPr>
          <a:lstStyle/>
          <a:p>
            <a:pPr algn="ctr" indent="0" marL="0">
              <a:buNone/>
            </a:pPr>
            <a:r>
              <a:rPr lang="en-US" sz="2700" b="1" dirty="0">
                <a:solidFill>
                  <a:srgbClr val="FFFFFF"/>
                </a:solidFill>
                <a:latin typeface="Comic Sans MS" pitchFamily="34" charset="0"/>
                <a:ea typeface="Comic Sans MS" pitchFamily="34" charset="-122"/>
                <a:cs typeface="Comic Sans MS" pitchFamily="34" charset="-120"/>
              </a:rPr>
              <a:t>Where it was</a:t>
            </a:r>
            <a:endParaRPr lang="en-US" sz="2700" dirty="0"/>
          </a:p>
        </p:txBody>
      </p:sp>
      <p:sp>
        <p:nvSpPr>
          <p:cNvPr id="14" name="Shape 12"/>
          <p:cNvSpPr/>
          <p:nvPr/>
        </p:nvSpPr>
        <p:spPr>
          <a:xfrm>
            <a:off x="9088907" y="768096"/>
            <a:ext cx="2682164" cy="457200"/>
          </a:xfrm>
          <a:prstGeom prst="rect">
            <a:avLst/>
          </a:prstGeom>
          <a:solidFill>
            <a:srgbClr val="3A3A3A"/>
          </a:solidFill>
          <a:ln w="12700">
            <a:solidFill>
              <a:srgbClr val="3A3A3A"/>
            </a:solidFill>
            <a:prstDash val="solid"/>
          </a:ln>
        </p:spPr>
        <p:txBody>
          <a:bodyPr/>
          <a:p/>
        </p:txBody>
      </p:sp>
      <p:sp>
        <p:nvSpPr>
          <p:cNvPr id="15" name="GROWFIT__table-text-6887-720-6107-6410__40__MIN20__table-header-1"/>
          <p:cNvSpPr/>
          <p:nvPr/>
        </p:nvSpPr>
        <p:spPr>
          <a:xfrm>
            <a:off x="9088907" y="768096"/>
            <a:ext cx="2682164" cy="457200"/>
          </a:xfrm>
          <a:prstGeom prst="rect">
            <a:avLst/>
          </a:prstGeom>
          <a:noFill/>
          <a:ln/>
        </p:spPr>
        <p:txBody>
          <a:bodyPr wrap="square" lIns="0" tIns="0" rIns="0" bIns="0" rtlCol="0" anchor="ctr">
            <a:noAutofit/>
          </a:bodyPr>
          <a:lstStyle/>
          <a:p>
            <a:pPr algn="ctr" indent="0" marL="0">
              <a:buNone/>
            </a:pPr>
            <a:r>
              <a:rPr lang="en-US" sz="2700" b="1" dirty="0">
                <a:solidFill>
                  <a:srgbClr val="FFFFFF"/>
                </a:solidFill>
                <a:latin typeface="Comic Sans MS" pitchFamily="34" charset="0"/>
                <a:ea typeface="Comic Sans MS" pitchFamily="34" charset="-122"/>
                <a:cs typeface="Comic Sans MS" pitchFamily="34" charset="-120"/>
              </a:rPr>
              <a:t>Evaporated</a:t>
            </a:r>
            <a:endParaRPr lang="en-US" sz="2700" dirty="0"/>
          </a:p>
        </p:txBody>
      </p:sp>
      <p:sp>
        <p:nvSpPr>
          <p:cNvPr id="16" name="Shape 14"/>
          <p:cNvSpPr/>
          <p:nvPr/>
        </p:nvSpPr>
        <p:spPr>
          <a:xfrm>
            <a:off x="6406744" y="1225296"/>
            <a:ext cx="2682164" cy="1728216"/>
          </a:xfrm>
          <a:prstGeom prst="rect">
            <a:avLst/>
          </a:prstGeom>
          <a:solidFill>
            <a:srgbClr val="FFE0C2"/>
          </a:solidFill>
          <a:ln w="12700">
            <a:solidFill>
              <a:srgbClr val="CCCCCC"/>
            </a:solidFill>
            <a:prstDash val="solid"/>
          </a:ln>
        </p:spPr>
        <p:txBody>
          <a:bodyPr/>
          <a:p/>
        </p:txBody>
      </p:sp>
      <p:sp>
        <p:nvSpPr>
          <p:cNvPr id="17" name="GROWFIT__table-text-6887-720-6107-6410__54__MIN20__table-cell-0-0"/>
          <p:cNvSpPr/>
          <p:nvPr/>
        </p:nvSpPr>
        <p:spPr>
          <a:xfrm>
            <a:off x="6406744" y="1225296"/>
            <a:ext cx="2682164" cy="1728216"/>
          </a:xfrm>
          <a:prstGeom prst="rect">
            <a:avLst/>
          </a:prstGeom>
          <a:noFill/>
          <a:ln/>
        </p:spPr>
        <p:txBody>
          <a:bodyPr wrap="square" lIns="0" tIns="0" rIns="0" bIns="0" rtlCol="0" anchor="ctr">
            <a:noAutofit/>
          </a:bodyPr>
          <a:lstStyle/>
          <a:p>
            <a:pPr algn="ctr" indent="0" marL="0">
              <a:buNone/>
            </a:pPr>
            <a:r>
              <a:rPr lang="en-US" sz="2700" b="1" dirty="0">
                <a:solidFill>
                  <a:srgbClr val="000000"/>
                </a:solidFill>
                <a:latin typeface="Comic Sans MS" pitchFamily="34" charset="0"/>
                <a:ea typeface="Comic Sans MS" pitchFamily="34" charset="-122"/>
                <a:cs typeface="Comic Sans MS" pitchFamily="34" charset="-120"/>
              </a:rPr>
              <a:t>Sunny windowsill</a:t>
            </a:r>
            <a:endParaRPr lang="en-US" sz="2700" dirty="0"/>
          </a:p>
        </p:txBody>
      </p:sp>
      <p:sp>
        <p:nvSpPr>
          <p:cNvPr id="18" name="Shape 16"/>
          <p:cNvSpPr/>
          <p:nvPr/>
        </p:nvSpPr>
        <p:spPr>
          <a:xfrm>
            <a:off x="9088907" y="1225296"/>
            <a:ext cx="2682164" cy="1728216"/>
          </a:xfrm>
          <a:prstGeom prst="rect">
            <a:avLst/>
          </a:prstGeom>
          <a:solidFill>
            <a:srgbClr val="FFE0C2"/>
          </a:solidFill>
          <a:ln w="12700">
            <a:solidFill>
              <a:srgbClr val="CCCCCC"/>
            </a:solidFill>
            <a:prstDash val="solid"/>
          </a:ln>
        </p:spPr>
        <p:txBody>
          <a:bodyPr/>
          <a:p/>
        </p:txBody>
      </p:sp>
      <p:sp>
        <p:nvSpPr>
          <p:cNvPr id="19" name="GROWFIT__table-text-6887-720-6107-6410__54__MIN20__table-cell-0-1"/>
          <p:cNvSpPr/>
          <p:nvPr/>
        </p:nvSpPr>
        <p:spPr>
          <a:xfrm>
            <a:off x="9088907" y="1225296"/>
            <a:ext cx="2682164" cy="1728216"/>
          </a:xfrm>
          <a:prstGeom prst="rect">
            <a:avLst/>
          </a:prstGeom>
          <a:noFill/>
          <a:ln/>
        </p:spPr>
        <p:txBody>
          <a:bodyPr wrap="square" lIns="0" tIns="0" rIns="0" bIns="0" rtlCol="0" anchor="ctr">
            <a:noAutofit/>
          </a:bodyPr>
          <a:lstStyle/>
          <a:p>
            <a:pPr algn="ctr" indent="0" marL="0">
              <a:buNone/>
            </a:pPr>
            <a:r>
              <a:rPr lang="en-US" sz="2700" dirty="0">
                <a:solidFill>
                  <a:srgbClr val="000000"/>
                </a:solidFill>
                <a:latin typeface="Comic Sans MS" pitchFamily="34" charset="0"/>
                <a:ea typeface="Comic Sans MS" pitchFamily="34" charset="-122"/>
                <a:cs typeface="Comic Sans MS" pitchFamily="34" charset="-120"/>
              </a:rPr>
              <a:t>40 ml</a:t>
            </a:r>
            <a:endParaRPr lang="en-US" sz="2700" dirty="0"/>
          </a:p>
        </p:txBody>
      </p:sp>
      <p:sp>
        <p:nvSpPr>
          <p:cNvPr id="20" name="Shape 18"/>
          <p:cNvSpPr/>
          <p:nvPr/>
        </p:nvSpPr>
        <p:spPr>
          <a:xfrm>
            <a:off x="6406744" y="2953512"/>
            <a:ext cx="2682164" cy="1728216"/>
          </a:xfrm>
          <a:prstGeom prst="rect">
            <a:avLst/>
          </a:prstGeom>
          <a:solidFill>
            <a:srgbClr val="FFF8C2"/>
          </a:solidFill>
          <a:ln w="12700">
            <a:solidFill>
              <a:srgbClr val="CCCCCC"/>
            </a:solidFill>
            <a:prstDash val="solid"/>
          </a:ln>
        </p:spPr>
        <p:txBody>
          <a:bodyPr/>
          <a:p/>
        </p:txBody>
      </p:sp>
      <p:sp>
        <p:nvSpPr>
          <p:cNvPr id="21" name="GROWFIT__table-text-6887-720-6107-6410__54__MIN20__table-cell-1-0"/>
          <p:cNvSpPr/>
          <p:nvPr/>
        </p:nvSpPr>
        <p:spPr>
          <a:xfrm>
            <a:off x="6406744" y="2953512"/>
            <a:ext cx="2682164" cy="1728216"/>
          </a:xfrm>
          <a:prstGeom prst="rect">
            <a:avLst/>
          </a:prstGeom>
          <a:noFill/>
          <a:ln/>
        </p:spPr>
        <p:txBody>
          <a:bodyPr wrap="square" lIns="0" tIns="0" rIns="0" bIns="0" rtlCol="0" anchor="ctr">
            <a:noAutofit/>
          </a:bodyPr>
          <a:lstStyle/>
          <a:p>
            <a:pPr algn="ctr" indent="0" marL="0">
              <a:buNone/>
            </a:pPr>
            <a:r>
              <a:rPr lang="en-US" sz="2700" b="1" dirty="0">
                <a:solidFill>
                  <a:srgbClr val="000000"/>
                </a:solidFill>
                <a:latin typeface="Comic Sans MS" pitchFamily="34" charset="0"/>
                <a:ea typeface="Comic Sans MS" pitchFamily="34" charset="-122"/>
                <a:cs typeface="Comic Sans MS" pitchFamily="34" charset="-120"/>
              </a:rPr>
              <a:t>Classroom shelf</a:t>
            </a:r>
            <a:endParaRPr lang="en-US" sz="2700" dirty="0"/>
          </a:p>
        </p:txBody>
      </p:sp>
      <p:sp>
        <p:nvSpPr>
          <p:cNvPr id="22" name="Shape 20"/>
          <p:cNvSpPr/>
          <p:nvPr/>
        </p:nvSpPr>
        <p:spPr>
          <a:xfrm>
            <a:off x="9088907" y="2953512"/>
            <a:ext cx="2682164" cy="1728216"/>
          </a:xfrm>
          <a:prstGeom prst="rect">
            <a:avLst/>
          </a:prstGeom>
          <a:solidFill>
            <a:srgbClr val="FFF8C2"/>
          </a:solidFill>
          <a:ln w="12700">
            <a:solidFill>
              <a:srgbClr val="CCCCCC"/>
            </a:solidFill>
            <a:prstDash val="solid"/>
          </a:ln>
        </p:spPr>
        <p:txBody>
          <a:bodyPr/>
          <a:p/>
        </p:txBody>
      </p:sp>
      <p:sp>
        <p:nvSpPr>
          <p:cNvPr id="23" name="GROWFIT__table-text-6887-720-6107-6410__54__MIN20__table-cell-1-1"/>
          <p:cNvSpPr/>
          <p:nvPr/>
        </p:nvSpPr>
        <p:spPr>
          <a:xfrm>
            <a:off x="9088907" y="2953512"/>
            <a:ext cx="2682164" cy="1728216"/>
          </a:xfrm>
          <a:prstGeom prst="rect">
            <a:avLst/>
          </a:prstGeom>
          <a:noFill/>
          <a:ln/>
        </p:spPr>
        <p:txBody>
          <a:bodyPr wrap="square" lIns="0" tIns="0" rIns="0" bIns="0" rtlCol="0" anchor="ctr">
            <a:noAutofit/>
          </a:bodyPr>
          <a:lstStyle/>
          <a:p>
            <a:pPr algn="ctr" indent="0" marL="0">
              <a:buNone/>
            </a:pPr>
            <a:r>
              <a:rPr lang="en-US" sz="2700" dirty="0">
                <a:solidFill>
                  <a:srgbClr val="000000"/>
                </a:solidFill>
                <a:latin typeface="Comic Sans MS" pitchFamily="34" charset="0"/>
                <a:ea typeface="Comic Sans MS" pitchFamily="34" charset="-122"/>
                <a:cs typeface="Comic Sans MS" pitchFamily="34" charset="-120"/>
              </a:rPr>
              <a:t>15 ml</a:t>
            </a:r>
            <a:endParaRPr lang="en-US" sz="2700" dirty="0"/>
          </a:p>
        </p:txBody>
      </p:sp>
      <p:sp>
        <p:nvSpPr>
          <p:cNvPr id="24" name="Shape 22"/>
          <p:cNvSpPr/>
          <p:nvPr/>
        </p:nvSpPr>
        <p:spPr>
          <a:xfrm>
            <a:off x="6406744" y="4681728"/>
            <a:ext cx="2682164" cy="1728216"/>
          </a:xfrm>
          <a:prstGeom prst="rect">
            <a:avLst/>
          </a:prstGeom>
          <a:solidFill>
            <a:srgbClr val="D6EEFF"/>
          </a:solidFill>
          <a:ln w="12700">
            <a:solidFill>
              <a:srgbClr val="CCCCCC"/>
            </a:solidFill>
            <a:prstDash val="solid"/>
          </a:ln>
        </p:spPr>
        <p:txBody>
          <a:bodyPr/>
          <a:p/>
        </p:txBody>
      </p:sp>
      <p:sp>
        <p:nvSpPr>
          <p:cNvPr id="25" name="GROWFIT__table-text-6887-720-6107-6410__54__MIN20__table-cell-2-0"/>
          <p:cNvSpPr/>
          <p:nvPr/>
        </p:nvSpPr>
        <p:spPr>
          <a:xfrm>
            <a:off x="6406744" y="4681728"/>
            <a:ext cx="2682164" cy="1728216"/>
          </a:xfrm>
          <a:prstGeom prst="rect">
            <a:avLst/>
          </a:prstGeom>
          <a:noFill/>
          <a:ln/>
        </p:spPr>
        <p:txBody>
          <a:bodyPr wrap="square" lIns="0" tIns="0" rIns="0" bIns="0" rtlCol="0" anchor="ctr">
            <a:noAutofit/>
          </a:bodyPr>
          <a:lstStyle/>
          <a:p>
            <a:pPr algn="ctr" indent="0" marL="0">
              <a:buNone/>
            </a:pPr>
            <a:r>
              <a:rPr lang="en-US" sz="2700" b="1" dirty="0">
                <a:solidFill>
                  <a:srgbClr val="000000"/>
                </a:solidFill>
                <a:latin typeface="Comic Sans MS" pitchFamily="34" charset="0"/>
                <a:ea typeface="Comic Sans MS" pitchFamily="34" charset="-122"/>
                <a:cs typeface="Comic Sans MS" pitchFamily="34" charset="-120"/>
              </a:rPr>
              <a:t>Fridge</a:t>
            </a:r>
            <a:endParaRPr lang="en-US" sz="2700" dirty="0"/>
          </a:p>
        </p:txBody>
      </p:sp>
      <p:sp>
        <p:nvSpPr>
          <p:cNvPr id="26" name="Shape 24"/>
          <p:cNvSpPr/>
          <p:nvPr/>
        </p:nvSpPr>
        <p:spPr>
          <a:xfrm>
            <a:off x="9088907" y="4681728"/>
            <a:ext cx="2682164" cy="1728216"/>
          </a:xfrm>
          <a:prstGeom prst="rect">
            <a:avLst/>
          </a:prstGeom>
          <a:solidFill>
            <a:srgbClr val="D6EEFF"/>
          </a:solidFill>
          <a:ln w="12700">
            <a:solidFill>
              <a:srgbClr val="CCCCCC"/>
            </a:solidFill>
            <a:prstDash val="solid"/>
          </a:ln>
        </p:spPr>
        <p:txBody>
          <a:bodyPr/>
          <a:p/>
        </p:txBody>
      </p:sp>
      <p:sp>
        <p:nvSpPr>
          <p:cNvPr id="27" name="GROWFIT__table-text-6887-720-6107-6410__54__MIN20__table-cell-2-1"/>
          <p:cNvSpPr/>
          <p:nvPr/>
        </p:nvSpPr>
        <p:spPr>
          <a:xfrm>
            <a:off x="9088907" y="4681728"/>
            <a:ext cx="2682164" cy="1728216"/>
          </a:xfrm>
          <a:prstGeom prst="rect">
            <a:avLst/>
          </a:prstGeom>
          <a:noFill/>
          <a:ln/>
        </p:spPr>
        <p:txBody>
          <a:bodyPr wrap="square" lIns="0" tIns="0" rIns="0" bIns="0" rtlCol="0" anchor="ctr">
            <a:noAutofit/>
          </a:bodyPr>
          <a:lstStyle/>
          <a:p>
            <a:pPr algn="ctr" indent="0" marL="0">
              <a:buNone/>
            </a:pPr>
            <a:r>
              <a:rPr lang="en-US" sz="2700" dirty="0">
                <a:solidFill>
                  <a:srgbClr val="000000"/>
                </a:solidFill>
                <a:latin typeface="Comic Sans MS" pitchFamily="34" charset="0"/>
                <a:ea typeface="Comic Sans MS" pitchFamily="34" charset="-122"/>
                <a:cs typeface="Comic Sans MS" pitchFamily="34" charset="-120"/>
              </a:rPr>
              <a:t>2 ml</a:t>
            </a:r>
            <a:endParaRPr lang="en-US" sz="2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D9C7"/>
        </a:solidFill>
      </p:bgPr>
    </p:bg>
    <p:spTree>
      <p:nvGrpSpPr>
        <p:cNvPr id="1" name=""/>
        <p:cNvGrpSpPr/>
        <p:nvPr/>
      </p:nvGrpSpPr>
      <p:grpSpPr>
        <a:xfrm>
          <a:off x="0" y="0"/>
          <a:ext cx="0" cy="0"/>
          <a:chOff x="0" y="0"/>
          <a:chExt cx="0" cy="0"/>
        </a:xfrm>
      </p:grpSpPr>
      <p:sp>
        <p:nvSpPr>
          <p:cNvPr id="2" name="Text 0"/>
          <p:cNvSpPr/>
          <p:nvPr/>
        </p:nvSpPr>
        <p:spPr>
          <a:xfrm>
            <a:off x="64008" y="0"/>
            <a:ext cx="7315200" cy="493776"/>
          </a:xfrm>
          <a:prstGeom prst="rect">
            <a:avLst/>
          </a:prstGeom>
          <a:noFill/>
          <a:ln/>
        </p:spPr>
        <p:txBody>
          <a:bodyPr wrap="square" lIns="0" tIns="0" rIns="0" bIns="0" rtlCol="0" anchor="t">
            <a:noAutofit/>
          </a:bodyPr>
          <a:lstStyle/>
          <a:p>
            <a:pPr algn="l" indent="0" marL="0">
              <a:buNone/>
            </a:pPr>
            <a:r>
              <a:rPr lang="en-US" sz="2800" b="1" u="sng" dirty="0">
                <a:solidFill>
                  <a:srgbClr val="0070C0"/>
                </a:solidFill>
                <a:latin typeface="Comic Sans MS" pitchFamily="34" charset="0"/>
                <a:ea typeface="Comic Sans MS" pitchFamily="34" charset="-122"/>
                <a:cs typeface="Comic Sans MS" pitchFamily="34" charset="-120"/>
              </a:rPr>
              <a:t>Is Leo right about the hot day? - check</a:t>
            </a:r>
            <a:endParaRPr lang="en-US" sz="2800" dirty="0"/>
          </a:p>
        </p:txBody>
      </p:sp>
      <p:sp>
        <p:nvSpPr>
          <p:cNvPr id="3" name="Shape 1"/>
          <p:cNvSpPr/>
          <p:nvPr/>
        </p:nvSpPr>
        <p:spPr>
          <a:xfrm>
            <a:off x="201168" y="548640"/>
            <a:ext cx="11789359" cy="5815584"/>
          </a:xfrm>
          <a:prstGeom prst="roundRect">
            <a:avLst>
              <a:gd name="adj" fmla="val 1258"/>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4" name="Text 2"/>
          <p:cNvSpPr/>
          <p:nvPr/>
        </p:nvSpPr>
        <p:spPr>
          <a:xfrm>
            <a:off x="274320" y="621792"/>
            <a:ext cx="11643055" cy="5669280"/>
          </a:xfrm>
          <a:prstGeom prst="rect">
            <a:avLst/>
          </a:prstGeom>
          <a:noFill/>
          <a:ln/>
        </p:spPr>
        <p:txBody>
          <a:bodyPr wrap="square" lIns="0" tIns="0" rIns="0" bIns="0" rtlCol="0" anchor="ctr">
            <a:noAutofit/>
          </a:bodyPr>
          <a:lstStyle/>
          <a:p>
            <a:pPr algn="l" indent="0" marL="0">
              <a:buNone/>
            </a:pPr>
            <a:r>
              <a:rPr lang="en-US" sz="4800" b="1" dirty="0">
                <a:solidFill>
                  <a:srgbClr val="00B050"/>
                </a:solidFill>
                <a:latin typeface="Comic Sans MS" pitchFamily="34" charset="0"/>
                <a:ea typeface="Comic Sans MS" pitchFamily="34" charset="-122"/>
                <a:cs typeface="Comic Sans MS" pitchFamily="34" charset="-120"/>
              </a:rPr>
              <a:t>Yes. Warmer water evaporates faster. The saucer on the sunny windowsill was the warmest, and 40 ml of its water evaporated in two days. The fridge saucer only lost 2 ml. So the towel on the hot day will dry quicker.</a:t>
            </a:r>
            <a:endParaRPr lang="en-US" sz="4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Evaporation and temperature - episode excerpt</dc:title>
  <dc:subject>To explain how temperature affects how quickly water evaporates.</dc:subject>
  <dc:creator>PptxGenJS</dc:creator>
  <cp:lastModifiedBy>PptxGenJS</cp:lastModifiedBy>
  <cp:revision>1</cp:revision>
  <dcterms:created xsi:type="dcterms:W3CDTF">2026-09-16T09:41:04Z</dcterms:created>
  <dcterms:modified xsi:type="dcterms:W3CDTF">2026-09-16T09:41:04Z</dcterms:modified>
</cp:coreProperties>
</file>