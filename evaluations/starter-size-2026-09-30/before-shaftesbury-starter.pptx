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orientation: Children follow one story: little children like Sarah Gooder working in the dark coal mines, Lord Shaftesbury using the children's own words to get Parliament to pass the 1842 law, what that law did and didn't change, and why thousands came to his funeral. On the way they read Sarah's own words and find the ones that show what her day was like, put the story of the new law in order, and sort five real children from the 1842 report by what the law meant for them. At the end every child writes a short proof that he was significant, then decides whether Ava is right that he wasn't, because children still worked after his law. The tricky move is explaining significance by what changed for children rather than by what he was like (rich, kind, famous): the board says it straight out on the last "Why do we still remember Lord Shaftesbury?" slide, and the strong and weak answers before the writing show the difference. Nothing needs printing; the worksheet, if you use it, replaces the written proof.
Say to children: Last lesson we found out about the jobs Victorian children did. Let's see what you remember. Number one: what did a trapper do in a coal mine? Number two: why did so many children from poor families go out to work? Have a think on your own first, then write your answers. [Pause, then show the answers.]
Some children will mix the trapper up with a hurrier, who pushed the coal carts: the door is the trapper's job, and the next slide shows it.
Answer to question(s) on this slide: A trapper sat by a little door in a mine tunnel. They opened it every time a cart of coal came through, then shut it again.
Their families were poor and needed the money the children earned.
Also accept: Accept 'opened and shut the doors in the mine' for the first, and any answer about the family needing the money for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children: A trapper sat by a little door in a mine tunnel. Every time a cart of coal came through, they opened the door, then shut it again. And children from poor families worked because their families needed the money. Hold on to both of those, because we need them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D9C7"/>
        </a:solidFill>
      </p:bgPr>
    </p:bg>
    <p:spTree>
      <p:nvGrpSpPr>
        <p:cNvPr id="1" name=""/>
        <p:cNvGrpSpPr/>
        <p:nvPr/>
      </p:nvGrpSpPr>
      <p:grpSpPr>
        <a:xfrm>
          <a:off x="0" y="0"/>
          <a:ext cx="0" cy="0"/>
          <a:chOff x="0" y="0"/>
          <a:chExt cx="0" cy="0"/>
        </a:xfrm>
      </p:grpSpPr>
      <p:sp>
        <p:nvSpPr>
          <p:cNvPr id="2" name="Text 0"/>
          <p:cNvSpPr/>
          <p:nvPr/>
        </p:nvSpPr>
        <p:spPr>
          <a:xfrm>
            <a:off x="201168" y="228600"/>
            <a:ext cx="11789359" cy="548640"/>
          </a:xfrm>
          <a:prstGeom prst="rect">
            <a:avLst/>
          </a:prstGeom>
          <a:noFill/>
          <a:ln/>
        </p:spPr>
        <p:txBody>
          <a:bodyPr wrap="square" lIns="0" tIns="0" rIns="0" bIns="0" rtlCol="0" anchor="ctr">
            <a:noAutofit/>
          </a:bodyPr>
          <a:lstStyle/>
          <a:p>
            <a:pPr algn="l" indent="0" marL="0">
              <a:buNone/>
            </a:pPr>
            <a:r>
              <a:rPr lang="en-US" sz="3300" b="1" u="sng" dirty="0">
                <a:solidFill>
                  <a:srgbClr val="000000"/>
                </a:solidFill>
                <a:latin typeface="Comic Sans MS" pitchFamily="34" charset="0"/>
                <a:ea typeface="Comic Sans MS" pitchFamily="34" charset="-122"/>
                <a:cs typeface="Comic Sans MS" pitchFamily="34" charset="-120"/>
              </a:rPr>
              <a:t>Date</a:t>
            </a:r>
            <a:endParaRPr lang="en-US" sz="3300" dirty="0"/>
          </a:p>
        </p:txBody>
      </p:sp>
      <p:sp>
        <p:nvSpPr>
          <p:cNvPr id="3" name="Text 1"/>
          <p:cNvSpPr/>
          <p:nvPr/>
        </p:nvSpPr>
        <p:spPr>
          <a:xfrm>
            <a:off x="201168" y="914400"/>
            <a:ext cx="11789359" cy="548640"/>
          </a:xfrm>
          <a:prstGeom prst="rect">
            <a:avLst/>
          </a:prstGeom>
          <a:noFill/>
          <a:ln/>
        </p:spPr>
        <p:txBody>
          <a:bodyPr wrap="square" lIns="0" tIns="0" rIns="0" bIns="0" rtlCol="0" anchor="ctr">
            <a:noAutofit/>
          </a:bodyPr>
          <a:lstStyle/>
          <a:p>
            <a:pPr algn="l" indent="0" marL="0">
              <a:buNone/>
            </a:pPr>
            <a:r>
              <a:rPr lang="en-US" sz="3300" b="1" u="sng" dirty="0">
                <a:solidFill>
                  <a:srgbClr val="7030A0"/>
                </a:solidFill>
                <a:latin typeface="Comic Sans MS" pitchFamily="34" charset="0"/>
                <a:ea typeface="Comic Sans MS" pitchFamily="34" charset="-122"/>
                <a:cs typeface="Comic Sans MS" pitchFamily="34" charset="-120"/>
              </a:rPr>
              <a:t>LO: To explain why Lord Shaftesbury was significant.</a:t>
            </a:r>
            <a:endParaRPr lang="en-US" sz="3300" dirty="0"/>
          </a:p>
        </p:txBody>
      </p:sp>
      <p:sp>
        <p:nvSpPr>
          <p:cNvPr id="4" name="Text 2"/>
          <p:cNvSpPr/>
          <p:nvPr/>
        </p:nvSpPr>
        <p:spPr>
          <a:xfrm>
            <a:off x="201168" y="1682496"/>
            <a:ext cx="3657600" cy="548640"/>
          </a:xfrm>
          <a:prstGeom prst="rect">
            <a:avLst/>
          </a:prstGeom>
          <a:noFill/>
          <a:ln/>
        </p:spPr>
        <p:txBody>
          <a:bodyPr wrap="square" lIns="0" tIns="0" rIns="0" bIns="0" rtlCol="0" anchor="ctr">
            <a:noAutofit/>
          </a:bodyPr>
          <a:lstStyle/>
          <a:p>
            <a:pPr algn="l" indent="0" marL="0">
              <a:buNone/>
            </a:pPr>
            <a:r>
              <a:rPr lang="en-US" sz="2400" b="1" u="sng" dirty="0">
                <a:solidFill>
                  <a:srgbClr val="0070C0"/>
                </a:solidFill>
                <a:latin typeface="Comic Sans MS" pitchFamily="34" charset="0"/>
                <a:ea typeface="Comic Sans MS" pitchFamily="34" charset="-122"/>
                <a:cs typeface="Comic Sans MS" pitchFamily="34" charset="-120"/>
              </a:rPr>
              <a:t>Starter</a:t>
            </a:r>
            <a:endParaRPr lang="en-US" sz="2400" dirty="0"/>
          </a:p>
        </p:txBody>
      </p:sp>
      <p:sp>
        <p:nvSpPr>
          <p:cNvPr id="5" name="Shape 3"/>
          <p:cNvSpPr/>
          <p:nvPr/>
        </p:nvSpPr>
        <p:spPr>
          <a:xfrm>
            <a:off x="338328" y="2487676"/>
            <a:ext cx="11515039" cy="2141728"/>
          </a:xfrm>
          <a:prstGeom prst="roundRect">
            <a:avLst>
              <a:gd name="adj" fmla="val 3416"/>
            </a:avLst>
          </a:prstGeom>
          <a:solidFill>
            <a:srgbClr val="F2F2F2"/>
          </a:solidFill>
          <a:ln w="19050">
            <a:solidFill>
              <a:srgbClr val="0070C0"/>
            </a:solidFill>
            <a:prstDash val="solid"/>
          </a:ln>
        </p:spPr>
        <p:txBody>
          <a:bodyPr/>
          <a:p/>
        </p:txBody>
      </p:sp>
      <p:sp>
        <p:nvSpPr>
          <p:cNvPr id="6" name="Text 4"/>
          <p:cNvSpPr/>
          <p:nvPr/>
        </p:nvSpPr>
        <p:spPr>
          <a:xfrm>
            <a:off x="521208" y="2487676"/>
            <a:ext cx="477520" cy="2141728"/>
          </a:xfrm>
          <a:prstGeom prst="rect">
            <a:avLst/>
          </a:prstGeom>
          <a:noFill/>
          <a:ln/>
        </p:spPr>
        <p:txBody>
          <a:bodyPr wrap="square" lIns="0" tIns="0" rIns="0" bIns="0" rtlCol="0" anchor="ctr">
            <a:noAutofit/>
          </a:bodyPr>
          <a:lstStyle/>
          <a:p>
            <a:pPr algn="l" indent="0" marL="0">
              <a:buNone/>
            </a:pPr>
            <a:r>
              <a:rPr lang="en-US" sz="2400" b="1" dirty="0">
                <a:solidFill>
                  <a:srgbClr val="7030A0"/>
                </a:solidFill>
                <a:latin typeface="Comic Sans MS" pitchFamily="34" charset="0"/>
                <a:ea typeface="Comic Sans MS" pitchFamily="34" charset="-122"/>
                <a:cs typeface="Comic Sans MS" pitchFamily="34" charset="-120"/>
              </a:rPr>
              <a:t>(1)</a:t>
            </a:r>
            <a:endParaRPr lang="en-US" sz="2400" dirty="0"/>
          </a:p>
        </p:txBody>
      </p:sp>
      <p:sp>
        <p:nvSpPr>
          <p:cNvPr id="7" name="GROWFIT__revealpair-starter-numbered-question-text-220-2520-12893-4730__28__MIN18__question-text-1"/>
          <p:cNvSpPr/>
          <p:nvPr/>
        </p:nvSpPr>
        <p:spPr>
          <a:xfrm>
            <a:off x="1071880" y="2487676"/>
            <a:ext cx="10598607" cy="2141728"/>
          </a:xfrm>
          <a:prstGeom prst="rect">
            <a:avLst/>
          </a:prstGeom>
          <a:noFill/>
          <a:ln/>
        </p:spPr>
        <p:txBody>
          <a:bodyPr wrap="square" lIns="0" tIns="0" rIns="0" bIns="0" rtlCol="0" anchor="ctr">
            <a:noAutofit/>
          </a:bodyPr>
          <a:lstStyle/>
          <a:p>
            <a:pPr algn="l" indent="0" marL="0">
              <a:buNone/>
            </a:pPr>
            <a:r>
              <a:rPr lang="en-US" sz="2800" b="1" dirty="0">
                <a:solidFill>
                  <a:srgbClr val="000000"/>
                </a:solidFill>
                <a:latin typeface="Comic Sans MS" pitchFamily="34" charset="0"/>
                <a:ea typeface="Comic Sans MS" pitchFamily="34" charset="-122"/>
                <a:cs typeface="Comic Sans MS" pitchFamily="34" charset="-120"/>
              </a:rPr>
              <a:t>What did a trapper do in a coal mine?</a:t>
            </a:r>
            <a:endParaRPr lang="en-US" sz="2800" dirty="0"/>
          </a:p>
        </p:txBody>
      </p:sp>
      <p:sp>
        <p:nvSpPr>
          <p:cNvPr id="8" name="Shape 6"/>
          <p:cNvSpPr/>
          <p:nvPr/>
        </p:nvSpPr>
        <p:spPr>
          <a:xfrm>
            <a:off x="338328" y="4766564"/>
            <a:ext cx="11515039" cy="1679448"/>
          </a:xfrm>
          <a:prstGeom prst="roundRect">
            <a:avLst>
              <a:gd name="adj" fmla="val 4356"/>
            </a:avLst>
          </a:prstGeom>
          <a:solidFill>
            <a:srgbClr val="F2F2F2"/>
          </a:solidFill>
          <a:ln w="19050">
            <a:solidFill>
              <a:srgbClr val="0070C0"/>
            </a:solidFill>
            <a:prstDash val="solid"/>
          </a:ln>
        </p:spPr>
        <p:txBody>
          <a:bodyPr/>
          <a:p/>
        </p:txBody>
      </p:sp>
      <p:sp>
        <p:nvSpPr>
          <p:cNvPr id="9" name="Text 7"/>
          <p:cNvSpPr/>
          <p:nvPr/>
        </p:nvSpPr>
        <p:spPr>
          <a:xfrm>
            <a:off x="521208" y="4766564"/>
            <a:ext cx="477520" cy="1679448"/>
          </a:xfrm>
          <a:prstGeom prst="rect">
            <a:avLst/>
          </a:prstGeom>
          <a:noFill/>
          <a:ln/>
        </p:spPr>
        <p:txBody>
          <a:bodyPr wrap="square" lIns="0" tIns="0" rIns="0" bIns="0" rtlCol="0" anchor="ctr">
            <a:noAutofit/>
          </a:bodyPr>
          <a:lstStyle/>
          <a:p>
            <a:pPr algn="l" indent="0" marL="0">
              <a:buNone/>
            </a:pPr>
            <a:r>
              <a:rPr lang="en-US" sz="2400" b="1" dirty="0">
                <a:solidFill>
                  <a:srgbClr val="7030A0"/>
                </a:solidFill>
                <a:latin typeface="Comic Sans MS" pitchFamily="34" charset="0"/>
                <a:ea typeface="Comic Sans MS" pitchFamily="34" charset="-122"/>
                <a:cs typeface="Comic Sans MS" pitchFamily="34" charset="-120"/>
              </a:rPr>
              <a:t>(2)</a:t>
            </a:r>
            <a:endParaRPr lang="en-US" sz="2400" dirty="0"/>
          </a:p>
        </p:txBody>
      </p:sp>
      <p:sp>
        <p:nvSpPr>
          <p:cNvPr id="10" name="GROWFIT__revealpair-starter-numbered-question-text-220-2520-12893-4730__28__MIN18__question-text-2"/>
          <p:cNvSpPr/>
          <p:nvPr/>
        </p:nvSpPr>
        <p:spPr>
          <a:xfrm>
            <a:off x="1071880" y="4766564"/>
            <a:ext cx="10598607" cy="1679448"/>
          </a:xfrm>
          <a:prstGeom prst="rect">
            <a:avLst/>
          </a:prstGeom>
          <a:noFill/>
          <a:ln/>
        </p:spPr>
        <p:txBody>
          <a:bodyPr wrap="square" lIns="0" tIns="0" rIns="0" bIns="0" rtlCol="0" anchor="ctr">
            <a:noAutofit/>
          </a:bodyPr>
          <a:lstStyle/>
          <a:p>
            <a:pPr algn="l" indent="0" marL="0">
              <a:buNone/>
            </a:pPr>
            <a:r>
              <a:rPr lang="en-US" sz="2800" b="1" dirty="0">
                <a:solidFill>
                  <a:srgbClr val="000000"/>
                </a:solidFill>
                <a:latin typeface="Comic Sans MS" pitchFamily="34" charset="0"/>
                <a:ea typeface="Comic Sans MS" pitchFamily="34" charset="-122"/>
                <a:cs typeface="Comic Sans MS" pitchFamily="34" charset="-120"/>
              </a:rPr>
              <a:t>Why did many children from poor families go out to work?</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D9C7"/>
        </a:solidFill>
      </p:bgPr>
    </p:bg>
    <p:spTree>
      <p:nvGrpSpPr>
        <p:cNvPr id="1" name=""/>
        <p:cNvGrpSpPr/>
        <p:nvPr/>
      </p:nvGrpSpPr>
      <p:grpSpPr>
        <a:xfrm>
          <a:off x="0" y="0"/>
          <a:ext cx="0" cy="0"/>
          <a:chOff x="0" y="0"/>
          <a:chExt cx="0" cy="0"/>
        </a:xfrm>
      </p:grpSpPr>
      <p:sp>
        <p:nvSpPr>
          <p:cNvPr id="2" name="Text 0"/>
          <p:cNvSpPr/>
          <p:nvPr/>
        </p:nvSpPr>
        <p:spPr>
          <a:xfrm>
            <a:off x="201168" y="228600"/>
            <a:ext cx="11789359" cy="548640"/>
          </a:xfrm>
          <a:prstGeom prst="rect">
            <a:avLst/>
          </a:prstGeom>
          <a:noFill/>
          <a:ln/>
        </p:spPr>
        <p:txBody>
          <a:bodyPr wrap="square" lIns="0" tIns="0" rIns="0" bIns="0" rtlCol="0" anchor="ctr">
            <a:noAutofit/>
          </a:bodyPr>
          <a:lstStyle/>
          <a:p>
            <a:pPr algn="l" indent="0" marL="0">
              <a:buNone/>
            </a:pPr>
            <a:r>
              <a:rPr lang="en-US" sz="3300" b="1" u="sng" dirty="0">
                <a:solidFill>
                  <a:srgbClr val="000000"/>
                </a:solidFill>
                <a:latin typeface="Comic Sans MS" pitchFamily="34" charset="0"/>
                <a:ea typeface="Comic Sans MS" pitchFamily="34" charset="-122"/>
                <a:cs typeface="Comic Sans MS" pitchFamily="34" charset="-120"/>
              </a:rPr>
              <a:t>Date</a:t>
            </a:r>
            <a:endParaRPr lang="en-US" sz="3300" dirty="0"/>
          </a:p>
        </p:txBody>
      </p:sp>
      <p:sp>
        <p:nvSpPr>
          <p:cNvPr id="3" name="Text 1"/>
          <p:cNvSpPr/>
          <p:nvPr/>
        </p:nvSpPr>
        <p:spPr>
          <a:xfrm>
            <a:off x="201168" y="914400"/>
            <a:ext cx="11789359" cy="548640"/>
          </a:xfrm>
          <a:prstGeom prst="rect">
            <a:avLst/>
          </a:prstGeom>
          <a:noFill/>
          <a:ln/>
        </p:spPr>
        <p:txBody>
          <a:bodyPr wrap="square" lIns="0" tIns="0" rIns="0" bIns="0" rtlCol="0" anchor="ctr">
            <a:noAutofit/>
          </a:bodyPr>
          <a:lstStyle/>
          <a:p>
            <a:pPr algn="l" indent="0" marL="0">
              <a:buNone/>
            </a:pPr>
            <a:r>
              <a:rPr lang="en-US" sz="3300" b="1" u="sng" dirty="0">
                <a:solidFill>
                  <a:srgbClr val="7030A0"/>
                </a:solidFill>
                <a:latin typeface="Comic Sans MS" pitchFamily="34" charset="0"/>
                <a:ea typeface="Comic Sans MS" pitchFamily="34" charset="-122"/>
                <a:cs typeface="Comic Sans MS" pitchFamily="34" charset="-120"/>
              </a:rPr>
              <a:t>LO: To explain why Lord Shaftesbury was significant.</a:t>
            </a:r>
            <a:endParaRPr lang="en-US" sz="3300" dirty="0"/>
          </a:p>
        </p:txBody>
      </p:sp>
      <p:sp>
        <p:nvSpPr>
          <p:cNvPr id="4" name="Text 2"/>
          <p:cNvSpPr/>
          <p:nvPr/>
        </p:nvSpPr>
        <p:spPr>
          <a:xfrm>
            <a:off x="201168" y="1682496"/>
            <a:ext cx="3657600" cy="548640"/>
          </a:xfrm>
          <a:prstGeom prst="rect">
            <a:avLst/>
          </a:prstGeom>
          <a:noFill/>
          <a:ln/>
        </p:spPr>
        <p:txBody>
          <a:bodyPr wrap="square" lIns="0" tIns="0" rIns="0" bIns="0" rtlCol="0" anchor="ctr">
            <a:noAutofit/>
          </a:bodyPr>
          <a:lstStyle/>
          <a:p>
            <a:pPr algn="l" indent="0" marL="0">
              <a:buNone/>
            </a:pPr>
            <a:r>
              <a:rPr lang="en-US" sz="2400" b="1" u="sng" dirty="0">
                <a:solidFill>
                  <a:srgbClr val="0070C0"/>
                </a:solidFill>
                <a:latin typeface="Comic Sans MS" pitchFamily="34" charset="0"/>
                <a:ea typeface="Comic Sans MS" pitchFamily="34" charset="-122"/>
                <a:cs typeface="Comic Sans MS" pitchFamily="34" charset="-120"/>
              </a:rPr>
              <a:t>Starter</a:t>
            </a:r>
            <a:endParaRPr lang="en-US" sz="2400" dirty="0"/>
          </a:p>
        </p:txBody>
      </p:sp>
      <p:sp>
        <p:nvSpPr>
          <p:cNvPr id="5" name="Shape 3"/>
          <p:cNvSpPr/>
          <p:nvPr/>
        </p:nvSpPr>
        <p:spPr>
          <a:xfrm>
            <a:off x="338328" y="2487676"/>
            <a:ext cx="11515039" cy="2141728"/>
          </a:xfrm>
          <a:prstGeom prst="roundRect">
            <a:avLst>
              <a:gd name="adj" fmla="val 3416"/>
            </a:avLst>
          </a:prstGeom>
          <a:solidFill>
            <a:srgbClr val="F2F2F2"/>
          </a:solidFill>
          <a:ln w="19050">
            <a:solidFill>
              <a:srgbClr val="0070C0"/>
            </a:solidFill>
            <a:prstDash val="solid"/>
          </a:ln>
        </p:spPr>
        <p:txBody>
          <a:bodyPr/>
          <a:p/>
        </p:txBody>
      </p:sp>
      <p:sp>
        <p:nvSpPr>
          <p:cNvPr id="6" name="Text 4"/>
          <p:cNvSpPr/>
          <p:nvPr/>
        </p:nvSpPr>
        <p:spPr>
          <a:xfrm>
            <a:off x="521208" y="2487676"/>
            <a:ext cx="477520" cy="2141728"/>
          </a:xfrm>
          <a:prstGeom prst="rect">
            <a:avLst/>
          </a:prstGeom>
          <a:noFill/>
          <a:ln/>
        </p:spPr>
        <p:txBody>
          <a:bodyPr wrap="square" lIns="0" tIns="0" rIns="0" bIns="0" rtlCol="0" anchor="ctr">
            <a:noAutofit/>
          </a:bodyPr>
          <a:lstStyle/>
          <a:p>
            <a:pPr algn="l" indent="0" marL="0">
              <a:buNone/>
            </a:pPr>
            <a:r>
              <a:rPr lang="en-US" sz="2400" b="1" dirty="0">
                <a:solidFill>
                  <a:srgbClr val="7030A0"/>
                </a:solidFill>
                <a:latin typeface="Comic Sans MS" pitchFamily="34" charset="0"/>
                <a:ea typeface="Comic Sans MS" pitchFamily="34" charset="-122"/>
                <a:cs typeface="Comic Sans MS" pitchFamily="34" charset="-120"/>
              </a:rPr>
              <a:t>(1)</a:t>
            </a:r>
            <a:endParaRPr lang="en-US" sz="2400" dirty="0"/>
          </a:p>
        </p:txBody>
      </p:sp>
      <p:sp>
        <p:nvSpPr>
          <p:cNvPr id="7" name="GROWFIT__revealpair-starter-numbered-question-text-220-2520-12893-4730__28__MIN18__question-text-1"/>
          <p:cNvSpPr/>
          <p:nvPr/>
        </p:nvSpPr>
        <p:spPr>
          <a:xfrm>
            <a:off x="1071880" y="2487676"/>
            <a:ext cx="10598607" cy="2141728"/>
          </a:xfrm>
          <a:prstGeom prst="rect">
            <a:avLst/>
          </a:prstGeom>
          <a:noFill/>
          <a:ln/>
        </p:spPr>
        <p:txBody>
          <a:bodyPr wrap="square" lIns="0" tIns="0" rIns="0" bIns="0" rtlCol="0" anchor="ctr">
            <a:noAutofit/>
          </a:bodyPr>
          <a:lstStyle/>
          <a:p>
            <a:pPr algn="l" indent="0" marL="0">
              <a:buNone/>
            </a:pPr>
            <a:r>
              <a:rPr lang="en-US" sz="2800" b="1" dirty="0">
                <a:solidFill>
                  <a:srgbClr val="000000"/>
                </a:solidFill>
                <a:latin typeface="Comic Sans MS" pitchFamily="34" charset="0"/>
                <a:ea typeface="Comic Sans MS" pitchFamily="34" charset="-122"/>
                <a:cs typeface="Comic Sans MS" pitchFamily="34" charset="-120"/>
              </a:rPr>
              <a:t>What did a trapper do in a coal mine?</a:t>
            </a:r>
            <a:r>
              <a:rPr lang="en-US" sz="2800" b="1" dirty="0">
                <a:solidFill>
                  <a:srgbClr val="000000"/>
                </a:solidFill>
                <a:latin typeface="Comic Sans MS" pitchFamily="34" charset="0"/>
                <a:ea typeface="Comic Sans MS" pitchFamily="34" charset="-122"/>
                <a:cs typeface="Comic Sans MS" pitchFamily="34" charset="-120"/>
              </a:rPr>
              <a:t>
</a:t>
            </a:r>
            <a:r>
              <a:rPr lang="en-US" sz="2800" b="1" dirty="0">
                <a:solidFill>
                  <a:srgbClr val="00B050"/>
                </a:solidFill>
                <a:latin typeface="Comic Sans MS" pitchFamily="34" charset="0"/>
                <a:ea typeface="Comic Sans MS" pitchFamily="34" charset="-122"/>
                <a:cs typeface="Comic Sans MS" pitchFamily="34" charset="-120"/>
              </a:rPr>
              <a:t>A trapper sat by a little door in a mine tunnel. They opened it every time a cart of coal came through, then shut it again.</a:t>
            </a:r>
            <a:endParaRPr lang="en-US" sz="2800" dirty="0"/>
          </a:p>
        </p:txBody>
      </p:sp>
      <p:sp>
        <p:nvSpPr>
          <p:cNvPr id="8" name="Shape 6"/>
          <p:cNvSpPr/>
          <p:nvPr/>
        </p:nvSpPr>
        <p:spPr>
          <a:xfrm>
            <a:off x="338328" y="4766564"/>
            <a:ext cx="11515039" cy="1679448"/>
          </a:xfrm>
          <a:prstGeom prst="roundRect">
            <a:avLst>
              <a:gd name="adj" fmla="val 4356"/>
            </a:avLst>
          </a:prstGeom>
          <a:solidFill>
            <a:srgbClr val="F2F2F2"/>
          </a:solidFill>
          <a:ln w="19050">
            <a:solidFill>
              <a:srgbClr val="0070C0"/>
            </a:solidFill>
            <a:prstDash val="solid"/>
          </a:ln>
        </p:spPr>
        <p:txBody>
          <a:bodyPr/>
          <a:p/>
        </p:txBody>
      </p:sp>
      <p:sp>
        <p:nvSpPr>
          <p:cNvPr id="9" name="Text 7"/>
          <p:cNvSpPr/>
          <p:nvPr/>
        </p:nvSpPr>
        <p:spPr>
          <a:xfrm>
            <a:off x="521208" y="4766564"/>
            <a:ext cx="477520" cy="1679448"/>
          </a:xfrm>
          <a:prstGeom prst="rect">
            <a:avLst/>
          </a:prstGeom>
          <a:noFill/>
          <a:ln/>
        </p:spPr>
        <p:txBody>
          <a:bodyPr wrap="square" lIns="0" tIns="0" rIns="0" bIns="0" rtlCol="0" anchor="ctr">
            <a:noAutofit/>
          </a:bodyPr>
          <a:lstStyle/>
          <a:p>
            <a:pPr algn="l" indent="0" marL="0">
              <a:buNone/>
            </a:pPr>
            <a:r>
              <a:rPr lang="en-US" sz="2400" b="1" dirty="0">
                <a:solidFill>
                  <a:srgbClr val="7030A0"/>
                </a:solidFill>
                <a:latin typeface="Comic Sans MS" pitchFamily="34" charset="0"/>
                <a:ea typeface="Comic Sans MS" pitchFamily="34" charset="-122"/>
                <a:cs typeface="Comic Sans MS" pitchFamily="34" charset="-120"/>
              </a:rPr>
              <a:t>(2)</a:t>
            </a:r>
            <a:endParaRPr lang="en-US" sz="2400" dirty="0"/>
          </a:p>
        </p:txBody>
      </p:sp>
      <p:sp>
        <p:nvSpPr>
          <p:cNvPr id="10" name="GROWFIT__revealpair-starter-numbered-question-text-220-2520-12893-4730__28__MIN18__question-text-2"/>
          <p:cNvSpPr/>
          <p:nvPr/>
        </p:nvSpPr>
        <p:spPr>
          <a:xfrm>
            <a:off x="1071880" y="4766564"/>
            <a:ext cx="10598607" cy="1679448"/>
          </a:xfrm>
          <a:prstGeom prst="rect">
            <a:avLst/>
          </a:prstGeom>
          <a:noFill/>
          <a:ln/>
        </p:spPr>
        <p:txBody>
          <a:bodyPr wrap="square" lIns="0" tIns="0" rIns="0" bIns="0" rtlCol="0" anchor="ctr">
            <a:noAutofit/>
          </a:bodyPr>
          <a:lstStyle/>
          <a:p>
            <a:pPr algn="l" indent="0" marL="0">
              <a:buNone/>
            </a:pPr>
            <a:r>
              <a:rPr lang="en-US" sz="2800" b="1" dirty="0">
                <a:solidFill>
                  <a:srgbClr val="000000"/>
                </a:solidFill>
                <a:latin typeface="Comic Sans MS" pitchFamily="34" charset="0"/>
                <a:ea typeface="Comic Sans MS" pitchFamily="34" charset="-122"/>
                <a:cs typeface="Comic Sans MS" pitchFamily="34" charset="-120"/>
              </a:rPr>
              <a:t>Why did many children from poor families go out to work?</a:t>
            </a:r>
            <a:r>
              <a:rPr lang="en-US" sz="2800" b="1" dirty="0">
                <a:solidFill>
                  <a:srgbClr val="000000"/>
                </a:solidFill>
                <a:latin typeface="Comic Sans MS" pitchFamily="34" charset="0"/>
                <a:ea typeface="Comic Sans MS" pitchFamily="34" charset="-122"/>
                <a:cs typeface="Comic Sans MS" pitchFamily="34" charset="-120"/>
              </a:rPr>
              <a:t>
</a:t>
            </a:r>
            <a:r>
              <a:rPr lang="en-US" sz="2800" b="1" dirty="0">
                <a:solidFill>
                  <a:srgbClr val="00B050"/>
                </a:solidFill>
                <a:latin typeface="Comic Sans MS" pitchFamily="34" charset="0"/>
                <a:ea typeface="Comic Sans MS" pitchFamily="34" charset="-122"/>
                <a:cs typeface="Comic Sans MS" pitchFamily="34" charset="-120"/>
              </a:rPr>
              <a:t>Their families were poor and needed the money the children earned.</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Lord Shaftesbury: why was he significant?</dc:title>
  <dc:subject>To explain why Lord Shaftesbury was significant.</dc:subject>
  <dc:creator>PptxGenJS</dc:creator>
  <cp:lastModifiedBy>PptxGenJS</cp:lastModifiedBy>
  <cp:revision>1</cp:revision>
  <dcterms:created xsi:type="dcterms:W3CDTF">2026-09-30T22:12:20Z</dcterms:created>
  <dcterms:modified xsi:type="dcterms:W3CDTF">2026-09-30T22:12:20Z</dcterms:modified>
</cp:coreProperties>
</file>