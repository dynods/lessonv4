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2-1.jpg" ContentType="image/jpg"/>
  <Override PartName="/ppt/media/image-4-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Not every Tudor child worked at home. Some left home to live with a master and learn a trade: making shoes, baking bread, sewing clothes. Look at this workshop. The master is showing, and the boy is copying. That's how you learned a trade in Tudor times, by doing it next to someone who could, day after day. It usually took about seven years.
Teacher information: Modern summary: Shakespeare Birthplace Trust, The Tudor Apprentice, pages 1 to 2. The craft is illustrative, not a record of a named apprentice.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Here's how the deal worked. The apprentice worked for the master. In return, the master gave him his food, his clothes and a bed to sleep in. No wages. So what did an apprentice get out of it? Two things. Straight away, he was fed and he had a roof over his head. And later, once he could make a shoe that fitted and lasted, he could earn his own living. Two different reasons, and one apprenticeship gave both.
Teacher information: Modern summary: Shakespeare Birthplace Trust, The Tudor Apprentice, pages 1 to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Before you start, here's what we know, and here's what a good reason looks like. The strong one is about shoes, not about Tom, so the thinking about Tom's cards is still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This is Tom. He's a baker's apprentice, and these cards are his deal. With your partner, read each card and put it under a heading: did it help Tom straight away, or when he grew up? Then, on your own, pick the card that was hardest to place, and write why you put it there.
Teacher information: Tom is an imagined case built from the taught deal. Show photo-003 with the case, captioned 'Reconstruction of Tudor bread-making'.
Look for: knowing when bread is baked just right placed with a reason about when it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children: Check your cards against these. Then read your reason for the hardest card to your partner.
Acceptance condition: Accept knowing when bread is baked just right under either heading when the reason says Tom was learning it now or would use it to earn a living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What did a Tudor apprentice get?</a:t>
            </a:r>
            <a:endParaRPr lang="en-US" sz="2800" dirty="0"/>
          </a:p>
        </p:txBody>
      </p:sp>
      <p:sp>
        <p:nvSpPr>
          <p:cNvPr id="3" name="Shape 1"/>
          <p:cNvSpPr/>
          <p:nvPr/>
        </p:nvSpPr>
        <p:spPr>
          <a:xfrm>
            <a:off x="201168" y="1911096"/>
            <a:ext cx="5848960" cy="4466234"/>
          </a:xfrm>
          <a:prstGeom prst="roundRect">
            <a:avLst>
              <a:gd name="adj" fmla="val 1638"/>
            </a:avLst>
          </a:prstGeom>
          <a:solidFill>
            <a:srgbClr val="FFFFFF"/>
          </a:solidFill>
          <a:ln/>
          <a:effectLst>
            <a:outerShdw sx="100000" sy="100000" kx="0" ky="0" algn="bl" rotWithShape="0" blurRad="127000" dist="12700" dir="5400000">
              <a:srgbClr val="000000">
                <a:alpha val="18000"/>
              </a:srgbClr>
            </a:outerShdw>
          </a:effectLst>
        </p:spPr>
        <p:txBody>
          <a:bodyPr/>
          <a:p/>
        </p:txBody>
      </p:sp>
      <p:pic>
        <p:nvPicPr>
          <p:cNvPr id="4" name="Image 0" descr="C:\Users\Daniel\Projects\lessonv4-cumulative\evaluations\lesson-designer-repairs-2026-09-16\example\unsplash\tudor-workshop-reconstruction.jpg">    </p:cNvPr>
          <p:cNvPicPr>
            <a:picLocks noChangeAspect="1"/>
          </p:cNvPicPr>
          <p:nvPr/>
        </p:nvPicPr>
        <p:blipFill>
          <a:blip r:embed="rId1"/>
          <a:stretch>
            <a:fillRect/>
          </a:stretch>
        </p:blipFill>
        <p:spPr>
          <a:xfrm>
            <a:off x="310896" y="2020824"/>
            <a:ext cx="5629504" cy="3753002"/>
          </a:xfrm>
          <a:prstGeom prst="rect">
            <a:avLst/>
          </a:prstGeom>
        </p:spPr>
      </p:pic>
      <p:sp>
        <p:nvSpPr>
          <p:cNvPr id="5" name="Text 2"/>
          <p:cNvSpPr/>
          <p:nvPr/>
        </p:nvSpPr>
        <p:spPr>
          <a:xfrm>
            <a:off x="310896" y="5846978"/>
            <a:ext cx="5629504" cy="420624"/>
          </a:xfrm>
          <a:prstGeom prst="rect">
            <a:avLst/>
          </a:prstGeom>
          <a:noFill/>
          <a:ln/>
        </p:spPr>
        <p:txBody>
          <a:bodyPr wrap="square" lIns="0" tIns="0" rIns="0" bIns="0" rtlCol="0" anchor="ctr">
            <a:noAutofit/>
          </a:bodyPr>
          <a:lstStyle/>
          <a:p>
            <a:pPr algn="ctr" indent="0" marL="0">
              <a:buNone/>
            </a:pPr>
            <a:r>
              <a:rPr lang="en-US" sz="2000" i="1" dirty="0">
                <a:solidFill>
                  <a:srgbClr val="000000"/>
                </a:solidFill>
                <a:latin typeface="Comic Sans MS" pitchFamily="34" charset="0"/>
                <a:ea typeface="Comic Sans MS" pitchFamily="34" charset="-122"/>
                <a:cs typeface="Comic Sans MS" pitchFamily="34" charset="-120"/>
              </a:rPr>
              <a:t>A leather workshop, reconstructed</a:t>
            </a:r>
            <a:endParaRPr lang="en-US" sz="2000" dirty="0"/>
          </a:p>
        </p:txBody>
      </p:sp>
      <p:sp>
        <p:nvSpPr>
          <p:cNvPr id="6" name="Shape 3"/>
          <p:cNvSpPr/>
          <p:nvPr/>
        </p:nvSpPr>
        <p:spPr>
          <a:xfrm>
            <a:off x="6141568" y="2142439"/>
            <a:ext cx="5848960" cy="2082089"/>
          </a:xfrm>
          <a:prstGeom prst="roundRect">
            <a:avLst>
              <a:gd name="adj" fmla="val 3513"/>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7" name="GROWFIT__size-column__60__size-group"/>
          <p:cNvSpPr/>
          <p:nvPr/>
        </p:nvSpPr>
        <p:spPr>
          <a:xfrm>
            <a:off x="6214720" y="2215591"/>
            <a:ext cx="5702656" cy="1935785"/>
          </a:xfrm>
          <a:prstGeom prst="rect">
            <a:avLst/>
          </a:prstGeom>
          <a:noFill/>
          <a:ln/>
        </p:spPr>
        <p:txBody>
          <a:bodyPr wrap="square" lIns="0" tIns="0" rIns="0" bIns="0" rtlCol="0" anchor="ctr">
            <a:noAutofit/>
          </a:bodyPr>
          <a:lstStyle/>
          <a:p>
            <a:pPr algn="ctr" indent="0" marL="0">
              <a:buNone/>
            </a:pPr>
            <a:r>
              <a:rPr lang="en-US" sz="2900" b="1" dirty="0">
                <a:solidFill>
                  <a:srgbClr val="000000"/>
                </a:solidFill>
                <a:latin typeface="Comic Sans MS" pitchFamily="34" charset="0"/>
                <a:ea typeface="Comic Sans MS" pitchFamily="34" charset="-122"/>
                <a:cs typeface="Comic Sans MS" pitchFamily="34" charset="-120"/>
              </a:rPr>
              <a:t>Look: the master shows, and the boy copies.</a:t>
            </a:r>
            <a:endParaRPr lang="en-US" sz="2900" dirty="0"/>
          </a:p>
        </p:txBody>
      </p:sp>
      <p:sp>
        <p:nvSpPr>
          <p:cNvPr id="8" name="Shape 5"/>
          <p:cNvSpPr/>
          <p:nvPr/>
        </p:nvSpPr>
        <p:spPr>
          <a:xfrm>
            <a:off x="6141568" y="4315968"/>
            <a:ext cx="5848960" cy="2082089"/>
          </a:xfrm>
          <a:prstGeom prst="roundRect">
            <a:avLst>
              <a:gd name="adj" fmla="val 3513"/>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9" name="GROWFIT__size-column__44__size-group"/>
          <p:cNvSpPr/>
          <p:nvPr/>
        </p:nvSpPr>
        <p:spPr>
          <a:xfrm>
            <a:off x="6214720" y="4389120"/>
            <a:ext cx="5702656" cy="1935785"/>
          </a:xfrm>
          <a:prstGeom prst="rect">
            <a:avLst/>
          </a:prstGeom>
          <a:noFill/>
          <a:ln/>
        </p:spPr>
        <p:txBody>
          <a:bodyPr wrap="square" lIns="0" tIns="0" rIns="0" bIns="0" rtlCol="0" anchor="ctr">
            <a:noAutofit/>
          </a:bodyPr>
          <a:lstStyle/>
          <a:p>
            <a:pPr algn="ctr" indent="0" marL="0">
              <a:buNone/>
            </a:pPr>
            <a:r>
              <a:rPr lang="en-US" sz="2900" b="1" dirty="0">
                <a:solidFill>
                  <a:srgbClr val="000000"/>
                </a:solidFill>
                <a:latin typeface="Comic Sans MS" pitchFamily="34" charset="0"/>
                <a:ea typeface="Comic Sans MS" pitchFamily="34" charset="-122"/>
                <a:cs typeface="Comic Sans MS" pitchFamily="34" charset="-120"/>
              </a:rPr>
              <a:t>That's how Tudor apprentices learned a </a:t>
            </a:r>
            <a:r>
              <a:rPr lang="en-US" sz="2900" b="1" dirty="0">
                <a:solidFill>
                  <a:srgbClr val="00B050"/>
                </a:solidFill>
                <a:latin typeface="Comic Sans MS" pitchFamily="34" charset="0"/>
                <a:ea typeface="Comic Sans MS" pitchFamily="34" charset="-122"/>
                <a:cs typeface="Comic Sans MS" pitchFamily="34" charset="-120"/>
              </a:rPr>
              <a:t>trade</a:t>
            </a:r>
            <a:r>
              <a:rPr lang="en-US" sz="2900" b="1" dirty="0">
                <a:solidFill>
                  <a:srgbClr val="000000"/>
                </a:solidFill>
                <a:latin typeface="Comic Sans MS" pitchFamily="34" charset="0"/>
                <a:ea typeface="Comic Sans MS" pitchFamily="34" charset="-122"/>
                <a:cs typeface="Comic Sans MS" pitchFamily="34" charset="-120"/>
              </a:rPr>
              <a:t>: by working next to someone who could, often for seven years.</a:t>
            </a:r>
            <a:endParaRPr lang="en-US" sz="2900" dirty="0"/>
          </a:p>
        </p:txBody>
      </p:sp>
      <p:sp>
        <p:nvSpPr>
          <p:cNvPr id="10" name="Shape 7"/>
          <p:cNvSpPr/>
          <p:nvPr/>
        </p:nvSpPr>
        <p:spPr>
          <a:xfrm>
            <a:off x="201168" y="548640"/>
            <a:ext cx="11789359" cy="1179576"/>
          </a:xfrm>
          <a:prstGeom prst="roundRect">
            <a:avLst>
              <a:gd name="adj" fmla="val 620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1" name="Text 8"/>
          <p:cNvSpPr/>
          <p:nvPr/>
        </p:nvSpPr>
        <p:spPr>
          <a:xfrm>
            <a:off x="274320" y="621792"/>
            <a:ext cx="11643055" cy="1033272"/>
          </a:xfrm>
          <a:prstGeom prst="rect">
            <a:avLst/>
          </a:prstGeom>
          <a:noFill/>
          <a:ln/>
        </p:spPr>
        <p:txBody>
          <a:bodyPr wrap="square" lIns="0" tIns="0" rIns="0" bIns="0" rtlCol="0" anchor="ctr">
            <a:noAutofit/>
          </a:bodyPr>
          <a:lstStyle/>
          <a:p>
            <a:pPr algn="ctr" indent="0" marL="0">
              <a:buNone/>
            </a:pPr>
            <a:r>
              <a:rPr lang="en-US" sz="3100" b="1" dirty="0">
                <a:solidFill>
                  <a:srgbClr val="000000"/>
                </a:solidFill>
                <a:latin typeface="Comic Sans MS" pitchFamily="34" charset="0"/>
                <a:ea typeface="Comic Sans MS" pitchFamily="34" charset="-122"/>
                <a:cs typeface="Comic Sans MS" pitchFamily="34" charset="-120"/>
              </a:rPr>
              <a:t>Some Tudor children left home to learn a </a:t>
            </a:r>
            <a:r>
              <a:rPr lang="en-US" sz="3100" b="1" dirty="0">
                <a:solidFill>
                  <a:srgbClr val="00B050"/>
                </a:solidFill>
                <a:latin typeface="Comic Sans MS" pitchFamily="34" charset="0"/>
                <a:ea typeface="Comic Sans MS" pitchFamily="34" charset="-122"/>
                <a:cs typeface="Comic Sans MS" pitchFamily="34" charset="-120"/>
              </a:rPr>
              <a:t>trade</a:t>
            </a:r>
            <a:r>
              <a:rPr lang="en-US" sz="3100" b="1" dirty="0">
                <a:solidFill>
                  <a:srgbClr val="000000"/>
                </a:solidFill>
                <a:latin typeface="Comic Sans MS" pitchFamily="34" charset="0"/>
                <a:ea typeface="Comic Sans MS" pitchFamily="34" charset="-122"/>
                <a:cs typeface="Comic Sans MS" pitchFamily="34" charset="-120"/>
              </a:rPr>
              <a:t> from someone called a master.</a:t>
            </a:r>
            <a:endParaRPr lang="en-US" sz="3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What did a Tudor apprentice get?</a:t>
            </a:r>
            <a:endParaRPr lang="en-US" sz="2800" dirty="0"/>
          </a:p>
        </p:txBody>
      </p:sp>
      <p:sp>
        <p:nvSpPr>
          <p:cNvPr id="3" name="Shape 1"/>
          <p:cNvSpPr/>
          <p:nvPr/>
        </p:nvSpPr>
        <p:spPr>
          <a:xfrm>
            <a:off x="6095848" y="548640"/>
            <a:ext cx="0" cy="6080760"/>
          </a:xfrm>
          <a:prstGeom prst="line">
            <a:avLst/>
          </a:prstGeom>
          <a:noFill/>
          <a:ln w="12700">
            <a:solidFill>
              <a:srgbClr val="D9D9D9"/>
            </a:solidFill>
            <a:prstDash val="solid"/>
          </a:ln>
        </p:spPr>
        <p:txBody>
          <a:bodyPr/>
          <a:p/>
        </p:txBody>
      </p:sp>
      <p:sp>
        <p:nvSpPr>
          <p:cNvPr id="4" name="Shape 2"/>
          <p:cNvSpPr/>
          <p:nvPr/>
        </p:nvSpPr>
        <p:spPr>
          <a:xfrm>
            <a:off x="201168" y="3589020"/>
            <a:ext cx="11789359" cy="0"/>
          </a:xfrm>
          <a:prstGeom prst="line">
            <a:avLst/>
          </a:prstGeom>
          <a:noFill/>
          <a:ln w="12700">
            <a:solidFill>
              <a:srgbClr val="D9D9D9"/>
            </a:solidFill>
            <a:prstDash val="solid"/>
          </a:ln>
        </p:spPr>
        <p:txBody>
          <a:bodyPr/>
          <a:p/>
        </p:txBody>
      </p:sp>
      <p:sp>
        <p:nvSpPr>
          <p:cNvPr id="5" name="Shape 3"/>
          <p:cNvSpPr/>
          <p:nvPr/>
        </p:nvSpPr>
        <p:spPr>
          <a:xfrm>
            <a:off x="943661" y="548640"/>
            <a:ext cx="4327398" cy="2958084"/>
          </a:xfrm>
          <a:prstGeom prst="roundRect">
            <a:avLst>
              <a:gd name="adj" fmla="val 2473"/>
            </a:avLst>
          </a:prstGeom>
          <a:solidFill>
            <a:srgbClr val="FFFFFF"/>
          </a:solidFill>
          <a:ln/>
          <a:effectLst>
            <a:outerShdw sx="100000" sy="100000" kx="0" ky="0" algn="bl" rotWithShape="0" blurRad="127000" dist="12700" dir="5400000">
              <a:srgbClr val="000000">
                <a:alpha val="18000"/>
              </a:srgbClr>
            </a:outerShdw>
          </a:effectLst>
        </p:spPr>
        <p:txBody>
          <a:bodyPr/>
          <a:p/>
        </p:txBody>
      </p:sp>
      <p:pic>
        <p:nvPicPr>
          <p:cNvPr id="6" name="Image 0" descr="C:\Users\Daniel\Projects\lessonv4-cumulative\evaluations\lesson-designer-repairs-2026-09-16\example\unsplash\tudor-workshop-reconstruction.jpg">    </p:cNvPr>
          <p:cNvPicPr>
            <a:picLocks noChangeAspect="1"/>
          </p:cNvPicPr>
          <p:nvPr/>
        </p:nvPicPr>
        <p:blipFill>
          <a:blip r:embed="rId1"/>
          <a:stretch>
            <a:fillRect/>
          </a:stretch>
        </p:blipFill>
        <p:spPr>
          <a:xfrm>
            <a:off x="1053389" y="658368"/>
            <a:ext cx="4107942" cy="2738628"/>
          </a:xfrm>
          <a:prstGeom prst="rect">
            <a:avLst/>
          </a:prstGeom>
        </p:spPr>
      </p:pic>
      <p:sp>
        <p:nvSpPr>
          <p:cNvPr id="7" name="Shape 4"/>
          <p:cNvSpPr/>
          <p:nvPr/>
        </p:nvSpPr>
        <p:spPr>
          <a:xfrm>
            <a:off x="6178144" y="548640"/>
            <a:ext cx="5812384" cy="2958084"/>
          </a:xfrm>
          <a:prstGeom prst="roundRect">
            <a:avLst>
              <a:gd name="adj" fmla="val 2473"/>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8" name="GROWFIT__size-cells__32__size-group"/>
          <p:cNvSpPr/>
          <p:nvPr/>
        </p:nvSpPr>
        <p:spPr>
          <a:xfrm>
            <a:off x="6251296" y="621792"/>
            <a:ext cx="5666080" cy="2811780"/>
          </a:xfrm>
          <a:prstGeom prst="rect">
            <a:avLst/>
          </a:prstGeom>
          <a:noFill/>
          <a:ln/>
        </p:spPr>
        <p:txBody>
          <a:bodyPr wrap="square" lIns="0" tIns="0" rIns="0" bIns="0" rtlCol="0" anchor="ctr">
            <a:noAutofit/>
          </a:bodyPr>
          <a:lstStyle/>
          <a:p>
            <a:pPr algn="ctr" indent="0" marL="0">
              <a:buNone/>
            </a:pPr>
            <a:r>
              <a:rPr lang="en-US" sz="2800" b="1" dirty="0">
                <a:solidFill>
                  <a:srgbClr val="000000"/>
                </a:solidFill>
                <a:latin typeface="Comic Sans MS" pitchFamily="34" charset="0"/>
                <a:ea typeface="Comic Sans MS" pitchFamily="34" charset="-122"/>
                <a:cs typeface="Comic Sans MS" pitchFamily="34" charset="-120"/>
              </a:rPr>
              <a:t>This was the deal.</a:t>
            </a:r>
            <a:r>
              <a:rPr lang="en-US" sz="2800" b="1" dirty="0">
                <a:solidFill>
                  <a:srgbClr val="000000"/>
                </a:solidFill>
                <a:latin typeface="Comic Sans MS" pitchFamily="34" charset="0"/>
                <a:ea typeface="Comic Sans MS" pitchFamily="34" charset="-122"/>
                <a:cs typeface="Comic Sans MS" pitchFamily="34" charset="-120"/>
              </a:rPr>
              <a:t>
</a:t>
            </a:r>
            <a:r>
              <a:rPr lang="en-US" sz="2800" b="1" dirty="0">
                <a:solidFill>
                  <a:srgbClr val="000000"/>
                </a:solidFill>
                <a:latin typeface="Comic Sans MS" pitchFamily="34" charset="0"/>
                <a:ea typeface="Comic Sans MS" pitchFamily="34" charset="-122"/>
                <a:cs typeface="Comic Sans MS" pitchFamily="34" charset="-120"/>
              </a:rPr>
              <a:t>The </a:t>
            </a:r>
            <a:r>
              <a:rPr lang="en-US" sz="2800" b="1" dirty="0">
                <a:solidFill>
                  <a:srgbClr val="00B050"/>
                </a:solidFill>
                <a:latin typeface="Comic Sans MS" pitchFamily="34" charset="0"/>
                <a:ea typeface="Comic Sans MS" pitchFamily="34" charset="-122"/>
                <a:cs typeface="Comic Sans MS" pitchFamily="34" charset="-120"/>
              </a:rPr>
              <a:t>apprentice</a:t>
            </a:r>
            <a:r>
              <a:rPr lang="en-US" sz="2800" b="1" dirty="0">
                <a:solidFill>
                  <a:srgbClr val="000000"/>
                </a:solidFill>
                <a:latin typeface="Comic Sans MS" pitchFamily="34" charset="0"/>
                <a:ea typeface="Comic Sans MS" pitchFamily="34" charset="-122"/>
                <a:cs typeface="Comic Sans MS" pitchFamily="34" charset="-120"/>
              </a:rPr>
              <a:t> worked for the master.</a:t>
            </a:r>
            <a:r>
              <a:rPr lang="en-US" sz="2800" b="1" dirty="0">
                <a:solidFill>
                  <a:srgbClr val="000000"/>
                </a:solidFill>
                <a:latin typeface="Comic Sans MS" pitchFamily="34" charset="0"/>
                <a:ea typeface="Comic Sans MS" pitchFamily="34" charset="-122"/>
                <a:cs typeface="Comic Sans MS" pitchFamily="34" charset="-120"/>
              </a:rPr>
              <a:t>
</a:t>
            </a:r>
            <a:r>
              <a:rPr lang="en-US" sz="2800" b="1" dirty="0">
                <a:solidFill>
                  <a:srgbClr val="000000"/>
                </a:solidFill>
                <a:latin typeface="Comic Sans MS" pitchFamily="34" charset="0"/>
                <a:ea typeface="Comic Sans MS" pitchFamily="34" charset="-122"/>
                <a:cs typeface="Comic Sans MS" pitchFamily="34" charset="-120"/>
              </a:rPr>
              <a:t>The master gave him food, clothes and a bed.</a:t>
            </a:r>
            <a:r>
              <a:rPr lang="en-US" sz="2800" b="1" dirty="0">
                <a:solidFill>
                  <a:srgbClr val="000000"/>
                </a:solidFill>
                <a:latin typeface="Comic Sans MS" pitchFamily="34" charset="0"/>
                <a:ea typeface="Comic Sans MS" pitchFamily="34" charset="-122"/>
                <a:cs typeface="Comic Sans MS" pitchFamily="34" charset="-120"/>
              </a:rPr>
              <a:t>
</a:t>
            </a:r>
            <a:r>
              <a:rPr lang="en-US" sz="2800" b="1" dirty="0">
                <a:solidFill>
                  <a:srgbClr val="000000"/>
                </a:solidFill>
                <a:latin typeface="Comic Sans MS" pitchFamily="34" charset="0"/>
                <a:ea typeface="Comic Sans MS" pitchFamily="34" charset="-122"/>
                <a:cs typeface="Comic Sans MS" pitchFamily="34" charset="-120"/>
              </a:rPr>
              <a:t>He wasn't paid.</a:t>
            </a:r>
            <a:endParaRPr lang="en-US" sz="2800" dirty="0"/>
          </a:p>
        </p:txBody>
      </p:sp>
      <p:sp>
        <p:nvSpPr>
          <p:cNvPr id="9" name="Shape 6"/>
          <p:cNvSpPr/>
          <p:nvPr/>
        </p:nvSpPr>
        <p:spPr>
          <a:xfrm>
            <a:off x="201168" y="3671316"/>
            <a:ext cx="5812384" cy="2958084"/>
          </a:xfrm>
          <a:prstGeom prst="roundRect">
            <a:avLst>
              <a:gd name="adj" fmla="val 2473"/>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0" name="GROWFIT__size-cells__32__size-group"/>
          <p:cNvSpPr/>
          <p:nvPr/>
        </p:nvSpPr>
        <p:spPr>
          <a:xfrm>
            <a:off x="274320" y="3744468"/>
            <a:ext cx="5666080" cy="2811780"/>
          </a:xfrm>
          <a:prstGeom prst="rect">
            <a:avLst/>
          </a:prstGeom>
          <a:noFill/>
          <a:ln/>
        </p:spPr>
        <p:txBody>
          <a:bodyPr wrap="square" lIns="0" tIns="0" rIns="0" bIns="0" rtlCol="0" anchor="ctr">
            <a:noAutofit/>
          </a:bodyPr>
          <a:lstStyle/>
          <a:p>
            <a:pPr algn="ctr" indent="0" marL="0">
              <a:buNone/>
            </a:pPr>
            <a:r>
              <a:rPr lang="en-US" sz="2800" b="1" dirty="0">
                <a:solidFill>
                  <a:srgbClr val="0070C0"/>
                </a:solidFill>
                <a:latin typeface="Comic Sans MS" pitchFamily="34" charset="0"/>
                <a:ea typeface="Comic Sans MS" pitchFamily="34" charset="-122"/>
                <a:cs typeface="Comic Sans MS" pitchFamily="34" charset="-120"/>
              </a:rPr>
              <a:t>So what did an apprentice get out of it?</a:t>
            </a:r>
            <a:endParaRPr lang="en-US" sz="2800" dirty="0"/>
          </a:p>
        </p:txBody>
      </p:sp>
      <p:sp>
        <p:nvSpPr>
          <p:cNvPr id="11" name="Shape 8"/>
          <p:cNvSpPr/>
          <p:nvPr/>
        </p:nvSpPr>
        <p:spPr>
          <a:xfrm>
            <a:off x="6178144" y="3671316"/>
            <a:ext cx="5812384" cy="2958084"/>
          </a:xfrm>
          <a:prstGeom prst="roundRect">
            <a:avLst>
              <a:gd name="adj" fmla="val 2473"/>
            </a:avLst>
          </a:prstGeom>
          <a:solidFill>
            <a:srgbClr val="FFFFFF"/>
          </a:solidFill>
          <a:ln/>
          <a:effectLst>
            <a:outerShdw sx="100000" sy="100000" kx="0" ky="0" algn="bl" rotWithShape="0" blurRad="127000" dist="12700" dir="5400000">
              <a:srgbClr val="000000">
                <a:alpha val="18000"/>
              </a:srgbClr>
            </a:outerShdw>
          </a:effectLst>
        </p:spPr>
        <p:txBody>
          <a:bodyPr/>
          <a:p/>
        </p:txBody>
      </p:sp>
      <p:pic>
        <p:nvPicPr>
          <p:cNvPr id="12" name="Image 1" descr="C:\Users\Daniel\Projects\lessonv4-cumulative\plugins\lesson-v4\builder\assets\signals\star.png">    </p:cNvPr>
          <p:cNvPicPr>
            <a:picLocks noChangeAspect="1"/>
          </p:cNvPicPr>
          <p:nvPr/>
        </p:nvPicPr>
        <p:blipFill>
          <a:blip r:embed="rId2"/>
          <a:stretch>
            <a:fillRect/>
          </a:stretch>
        </p:blipFill>
        <p:spPr>
          <a:xfrm>
            <a:off x="6251296" y="4967478"/>
            <a:ext cx="316333" cy="365760"/>
          </a:xfrm>
          <a:prstGeom prst="rect">
            <a:avLst/>
          </a:prstGeom>
        </p:spPr>
      </p:pic>
      <p:sp>
        <p:nvSpPr>
          <p:cNvPr id="13" name="GROWFIT__size-cells__32__size-group"/>
          <p:cNvSpPr/>
          <p:nvPr/>
        </p:nvSpPr>
        <p:spPr>
          <a:xfrm>
            <a:off x="6659069" y="3744468"/>
            <a:ext cx="5258307" cy="2811780"/>
          </a:xfrm>
          <a:prstGeom prst="rect">
            <a:avLst/>
          </a:prstGeom>
          <a:noFill/>
          <a:ln/>
        </p:spPr>
        <p:txBody>
          <a:bodyPr wrap="square" lIns="0" tIns="0" rIns="0" bIns="0" rtlCol="0" anchor="ctr">
            <a:noAutofit/>
          </a:bodyPr>
          <a:lstStyle/>
          <a:p>
            <a:pPr algn="ctr" indent="0" marL="0">
              <a:buNone/>
            </a:pPr>
            <a:r>
              <a:rPr lang="en-US" sz="2800" b="1" dirty="0">
                <a:solidFill>
                  <a:srgbClr val="7030A0"/>
                </a:solidFill>
                <a:latin typeface="Comic Sans MS" pitchFamily="34" charset="0"/>
                <a:ea typeface="Comic Sans MS" pitchFamily="34" charset="-122"/>
                <a:cs typeface="Comic Sans MS" pitchFamily="34" charset="-120"/>
              </a:rPr>
              <a:t>An apprenticeship could provide food and a home now, and a way to earn a living later.</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Help now or help later?</a:t>
            </a:r>
            <a:endParaRPr lang="en-US" sz="2800" dirty="0"/>
          </a:p>
        </p:txBody>
      </p:sp>
      <p:sp>
        <p:nvSpPr>
          <p:cNvPr id="3" name="Shape 1"/>
          <p:cNvSpPr/>
          <p:nvPr/>
        </p:nvSpPr>
        <p:spPr>
          <a:xfrm>
            <a:off x="201168" y="548640"/>
            <a:ext cx="5803240" cy="1814732"/>
          </a:xfrm>
          <a:prstGeom prst="roundRect">
            <a:avLst>
              <a:gd name="adj" fmla="val 403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4" name="Text 2"/>
          <p:cNvSpPr/>
          <p:nvPr/>
        </p:nvSpPr>
        <p:spPr>
          <a:xfrm>
            <a:off x="274320" y="621792"/>
            <a:ext cx="5656936" cy="1668428"/>
          </a:xfrm>
          <a:prstGeom prst="rect">
            <a:avLst/>
          </a:prstGeom>
          <a:noFill/>
          <a:ln/>
        </p:spPr>
        <p:txBody>
          <a:bodyPr wrap="square" lIns="0" tIns="0" rIns="0" bIns="0" rtlCol="0" anchor="ctr">
            <a:noAutofit/>
          </a:bodyPr>
          <a:lstStyle/>
          <a:p>
            <a:pPr algn="l" indent="0" marL="0">
              <a:buNone/>
            </a:pPr>
            <a:r>
              <a:rPr lang="en-US" sz="2700" b="1" dirty="0">
                <a:solidFill>
                  <a:srgbClr val="000000"/>
                </a:solidFill>
                <a:latin typeface="Comic Sans MS" pitchFamily="34" charset="0"/>
                <a:ea typeface="Comic Sans MS" pitchFamily="34" charset="-122"/>
                <a:cs typeface="Comic Sans MS" pitchFamily="34" charset="-120"/>
              </a:rPr>
              <a:t>An apprenticeship gave two kinds of help: food and a home now, and a way to earn a living later.</a:t>
            </a:r>
            <a:endParaRPr lang="en-US" sz="2700" dirty="0"/>
          </a:p>
        </p:txBody>
      </p:sp>
      <p:sp>
        <p:nvSpPr>
          <p:cNvPr id="5" name="Shape 3"/>
          <p:cNvSpPr/>
          <p:nvPr/>
        </p:nvSpPr>
        <p:spPr>
          <a:xfrm>
            <a:off x="201168" y="2454812"/>
            <a:ext cx="5803240" cy="1587891"/>
          </a:xfrm>
          <a:prstGeom prst="roundRect">
            <a:avLst>
              <a:gd name="adj" fmla="val 4607"/>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6" name="GROWFIT__size-pair__28__size-group"/>
          <p:cNvSpPr/>
          <p:nvPr/>
        </p:nvSpPr>
        <p:spPr>
          <a:xfrm>
            <a:off x="274320" y="2527964"/>
            <a:ext cx="5656936" cy="1441587"/>
          </a:xfrm>
          <a:prstGeom prst="rect">
            <a:avLst/>
          </a:prstGeom>
          <a:noFill/>
          <a:ln/>
        </p:spPr>
        <p:txBody>
          <a:bodyPr wrap="square" lIns="0" tIns="0" rIns="0" bIns="0" rtlCol="0" anchor="ctr">
            <a:noAutofit/>
          </a:bodyPr>
          <a:lstStyle/>
          <a:p>
            <a:pPr algn="l" indent="0" marL="0">
              <a:buNone/>
            </a:pPr>
            <a:r>
              <a:rPr lang="en-US" sz="2400" b="1" dirty="0">
                <a:solidFill>
                  <a:srgbClr val="000000"/>
                </a:solidFill>
                <a:latin typeface="Comic Sans MS" pitchFamily="34" charset="0"/>
                <a:ea typeface="Comic Sans MS" pitchFamily="34" charset="-122"/>
                <a:cs typeface="Comic Sans MS" pitchFamily="34" charset="-120"/>
              </a:rPr>
              <a:t>A weak reason says: "I put it there because it goes there."</a:t>
            </a:r>
            <a:endParaRPr lang="en-US" sz="2400" dirty="0"/>
          </a:p>
        </p:txBody>
      </p:sp>
      <p:sp>
        <p:nvSpPr>
          <p:cNvPr id="7" name="Shape 5"/>
          <p:cNvSpPr/>
          <p:nvPr/>
        </p:nvSpPr>
        <p:spPr>
          <a:xfrm>
            <a:off x="201168" y="4134143"/>
            <a:ext cx="5803240" cy="2495257"/>
          </a:xfrm>
          <a:prstGeom prst="roundRect">
            <a:avLst>
              <a:gd name="adj" fmla="val 293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8" name="GROWFIT__size-pair__28__size-group"/>
          <p:cNvSpPr/>
          <p:nvPr/>
        </p:nvSpPr>
        <p:spPr>
          <a:xfrm>
            <a:off x="274320" y="4207295"/>
            <a:ext cx="5656936" cy="2348953"/>
          </a:xfrm>
          <a:prstGeom prst="rect">
            <a:avLst/>
          </a:prstGeom>
          <a:noFill/>
          <a:ln/>
        </p:spPr>
        <p:txBody>
          <a:bodyPr wrap="square" lIns="0" tIns="0" rIns="0" bIns="0" rtlCol="0" anchor="ctr">
            <a:noAutofit/>
          </a:bodyPr>
          <a:lstStyle/>
          <a:p>
            <a:pPr algn="l" indent="0" marL="0">
              <a:buNone/>
            </a:pPr>
            <a:r>
              <a:rPr lang="en-US" sz="2400" b="1" dirty="0">
                <a:solidFill>
                  <a:srgbClr val="000000"/>
                </a:solidFill>
                <a:latin typeface="Comic Sans MS" pitchFamily="34" charset="0"/>
                <a:ea typeface="Comic Sans MS" pitchFamily="34" charset="-122"/>
                <a:cs typeface="Comic Sans MS" pitchFamily="34" charset="-120"/>
              </a:rPr>
              <a:t>A strong reason says: "I put a pair of shoes his master made him under Helped him straight away, because he could wear them now." The strong one says when it helped him.</a:t>
            </a:r>
            <a:endParaRPr lang="en-US" sz="2400" dirty="0"/>
          </a:p>
        </p:txBody>
      </p:sp>
      <p:sp>
        <p:nvSpPr>
          <p:cNvPr id="9" name="Shape 7"/>
          <p:cNvSpPr/>
          <p:nvPr/>
        </p:nvSpPr>
        <p:spPr>
          <a:xfrm>
            <a:off x="6233008" y="685800"/>
            <a:ext cx="5620360" cy="1341882"/>
          </a:xfrm>
          <a:prstGeom prst="roundRect">
            <a:avLst>
              <a:gd name="adj" fmla="val 545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0" name="Shape 8"/>
          <p:cNvSpPr/>
          <p:nvPr/>
        </p:nvSpPr>
        <p:spPr>
          <a:xfrm>
            <a:off x="6342736" y="1105281"/>
            <a:ext cx="502920" cy="502920"/>
          </a:xfrm>
          <a:prstGeom prst="ellipse">
            <a:avLst/>
          </a:prstGeom>
          <a:solidFill>
            <a:srgbClr val="00B050"/>
          </a:solidFill>
          <a:ln w="12700">
            <a:solidFill>
              <a:srgbClr val="00B050"/>
            </a:solidFill>
            <a:prstDash val="solid"/>
          </a:ln>
        </p:spPr>
        <p:txBody>
          <a:bodyPr/>
          <a:p/>
        </p:txBody>
      </p:sp>
      <p:sp>
        <p:nvSpPr>
          <p:cNvPr id="11" name="NOFIT_step-badge"/>
          <p:cNvSpPr/>
          <p:nvPr/>
        </p:nvSpPr>
        <p:spPr>
          <a:xfrm>
            <a:off x="6342736" y="1105281"/>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omic Sans MS" pitchFamily="34" charset="0"/>
                <a:ea typeface="Comic Sans MS" pitchFamily="34" charset="-122"/>
                <a:cs typeface="Comic Sans MS" pitchFamily="34" charset="-120"/>
              </a:rPr>
              <a:t>1</a:t>
            </a:r>
            <a:endParaRPr lang="en-US" sz="2000" dirty="0"/>
          </a:p>
        </p:txBody>
      </p:sp>
      <p:sp>
        <p:nvSpPr>
          <p:cNvPr id="12" name="GROWFIT__step-text-6767-600-6347-6650__36__MIN18__step-text-0"/>
          <p:cNvSpPr/>
          <p:nvPr/>
        </p:nvSpPr>
        <p:spPr>
          <a:xfrm>
            <a:off x="6937096" y="685800"/>
            <a:ext cx="4806544" cy="1341882"/>
          </a:xfrm>
          <a:prstGeom prst="rect">
            <a:avLst/>
          </a:prstGeom>
          <a:noFill/>
          <a:ln/>
        </p:spPr>
        <p:txBody>
          <a:bodyPr wrap="square" lIns="0" tIns="0" rIns="0" bIns="0" rtlCol="0" anchor="ctr">
            <a:noAutofit/>
          </a:bodyPr>
          <a:lstStyle/>
          <a:p>
            <a:pPr algn="l" indent="0" marL="0">
              <a:buNone/>
            </a:pPr>
            <a:r>
              <a:rPr lang="en-US" sz="3500" b="1" dirty="0">
                <a:solidFill>
                  <a:srgbClr val="000000"/>
                </a:solidFill>
                <a:latin typeface="Comic Sans MS" pitchFamily="34" charset="0"/>
                <a:ea typeface="Comic Sans MS" pitchFamily="34" charset="-122"/>
                <a:cs typeface="Comic Sans MS" pitchFamily="34" charset="-120"/>
              </a:rPr>
              <a:t>Read each card with your partner.</a:t>
            </a:r>
            <a:endParaRPr lang="en-US" sz="3500" dirty="0"/>
          </a:p>
        </p:txBody>
      </p:sp>
      <p:sp>
        <p:nvSpPr>
          <p:cNvPr id="13" name="Shape 11"/>
          <p:cNvSpPr/>
          <p:nvPr/>
        </p:nvSpPr>
        <p:spPr>
          <a:xfrm>
            <a:off x="6233008" y="2137410"/>
            <a:ext cx="5620360" cy="1341882"/>
          </a:xfrm>
          <a:prstGeom prst="roundRect">
            <a:avLst>
              <a:gd name="adj" fmla="val 545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4" name="Shape 12"/>
          <p:cNvSpPr/>
          <p:nvPr/>
        </p:nvSpPr>
        <p:spPr>
          <a:xfrm>
            <a:off x="6342736" y="2556891"/>
            <a:ext cx="502920" cy="502920"/>
          </a:xfrm>
          <a:prstGeom prst="ellipse">
            <a:avLst/>
          </a:prstGeom>
          <a:solidFill>
            <a:srgbClr val="00B050"/>
          </a:solidFill>
          <a:ln w="12700">
            <a:solidFill>
              <a:srgbClr val="00B050"/>
            </a:solidFill>
            <a:prstDash val="solid"/>
          </a:ln>
        </p:spPr>
        <p:txBody>
          <a:bodyPr/>
          <a:p/>
        </p:txBody>
      </p:sp>
      <p:sp>
        <p:nvSpPr>
          <p:cNvPr id="15" name="NOFIT_step-badge"/>
          <p:cNvSpPr/>
          <p:nvPr/>
        </p:nvSpPr>
        <p:spPr>
          <a:xfrm>
            <a:off x="6342736" y="2556891"/>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omic Sans MS" pitchFamily="34" charset="0"/>
                <a:ea typeface="Comic Sans MS" pitchFamily="34" charset="-122"/>
                <a:cs typeface="Comic Sans MS" pitchFamily="34" charset="-120"/>
              </a:rPr>
              <a:t>2</a:t>
            </a:r>
            <a:endParaRPr lang="en-US" sz="2000" dirty="0"/>
          </a:p>
        </p:txBody>
      </p:sp>
      <p:sp>
        <p:nvSpPr>
          <p:cNvPr id="16" name="GROWFIT__step-text-6767-600-6347-6650__36__MIN18__step-text-1"/>
          <p:cNvSpPr/>
          <p:nvPr/>
        </p:nvSpPr>
        <p:spPr>
          <a:xfrm>
            <a:off x="6937096" y="2137410"/>
            <a:ext cx="4806544" cy="1341882"/>
          </a:xfrm>
          <a:prstGeom prst="rect">
            <a:avLst/>
          </a:prstGeom>
          <a:noFill/>
          <a:ln/>
        </p:spPr>
        <p:txBody>
          <a:bodyPr wrap="square" lIns="0" tIns="0" rIns="0" bIns="0" rtlCol="0" anchor="ctr">
            <a:noAutofit/>
          </a:bodyPr>
          <a:lstStyle/>
          <a:p>
            <a:pPr algn="l" indent="0" marL="0">
              <a:buNone/>
            </a:pPr>
            <a:r>
              <a:rPr lang="en-US" sz="3500" b="1" dirty="0">
                <a:solidFill>
                  <a:srgbClr val="000000"/>
                </a:solidFill>
                <a:latin typeface="Comic Sans MS" pitchFamily="34" charset="0"/>
                <a:ea typeface="Comic Sans MS" pitchFamily="34" charset="-122"/>
                <a:cs typeface="Comic Sans MS" pitchFamily="34" charset="-120"/>
              </a:rPr>
              <a:t>Put each card under a heading.</a:t>
            </a:r>
            <a:endParaRPr lang="en-US" sz="3500" dirty="0"/>
          </a:p>
        </p:txBody>
      </p:sp>
      <p:sp>
        <p:nvSpPr>
          <p:cNvPr id="17" name="Shape 15"/>
          <p:cNvSpPr/>
          <p:nvPr/>
        </p:nvSpPr>
        <p:spPr>
          <a:xfrm>
            <a:off x="6233008" y="3589020"/>
            <a:ext cx="5620360" cy="1341882"/>
          </a:xfrm>
          <a:prstGeom prst="roundRect">
            <a:avLst>
              <a:gd name="adj" fmla="val 545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8" name="Shape 16"/>
          <p:cNvSpPr/>
          <p:nvPr/>
        </p:nvSpPr>
        <p:spPr>
          <a:xfrm>
            <a:off x="6342736" y="4008501"/>
            <a:ext cx="502920" cy="502920"/>
          </a:xfrm>
          <a:prstGeom prst="ellipse">
            <a:avLst/>
          </a:prstGeom>
          <a:solidFill>
            <a:srgbClr val="00B050"/>
          </a:solidFill>
          <a:ln w="12700">
            <a:solidFill>
              <a:srgbClr val="00B050"/>
            </a:solidFill>
            <a:prstDash val="solid"/>
          </a:ln>
        </p:spPr>
        <p:txBody>
          <a:bodyPr/>
          <a:p/>
        </p:txBody>
      </p:sp>
      <p:sp>
        <p:nvSpPr>
          <p:cNvPr id="19" name="NOFIT_step-badge"/>
          <p:cNvSpPr/>
          <p:nvPr/>
        </p:nvSpPr>
        <p:spPr>
          <a:xfrm>
            <a:off x="6342736" y="4008501"/>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omic Sans MS" pitchFamily="34" charset="0"/>
                <a:ea typeface="Comic Sans MS" pitchFamily="34" charset="-122"/>
                <a:cs typeface="Comic Sans MS" pitchFamily="34" charset="-120"/>
              </a:rPr>
              <a:t>3</a:t>
            </a:r>
            <a:endParaRPr lang="en-US" sz="2000" dirty="0"/>
          </a:p>
        </p:txBody>
      </p:sp>
      <p:sp>
        <p:nvSpPr>
          <p:cNvPr id="20" name="GROWFIT__step-text-6767-600-6347-6650__36__MIN18__step-text-2"/>
          <p:cNvSpPr/>
          <p:nvPr/>
        </p:nvSpPr>
        <p:spPr>
          <a:xfrm>
            <a:off x="6937096" y="3589020"/>
            <a:ext cx="4806544" cy="1341882"/>
          </a:xfrm>
          <a:prstGeom prst="rect">
            <a:avLst/>
          </a:prstGeom>
          <a:noFill/>
          <a:ln/>
        </p:spPr>
        <p:txBody>
          <a:bodyPr wrap="square" lIns="0" tIns="0" rIns="0" bIns="0" rtlCol="0" anchor="ctr">
            <a:noAutofit/>
          </a:bodyPr>
          <a:lstStyle/>
          <a:p>
            <a:pPr algn="l" indent="0" marL="0">
              <a:buNone/>
            </a:pPr>
            <a:r>
              <a:rPr lang="en-US" sz="3500" b="1" dirty="0">
                <a:solidFill>
                  <a:srgbClr val="000000"/>
                </a:solidFill>
                <a:latin typeface="Comic Sans MS" pitchFamily="34" charset="0"/>
                <a:ea typeface="Comic Sans MS" pitchFamily="34" charset="-122"/>
                <a:cs typeface="Comic Sans MS" pitchFamily="34" charset="-120"/>
              </a:rPr>
              <a:t>Pick the card that was hardest to place.</a:t>
            </a:r>
            <a:endParaRPr lang="en-US" sz="3500" dirty="0"/>
          </a:p>
        </p:txBody>
      </p:sp>
      <p:sp>
        <p:nvSpPr>
          <p:cNvPr id="21" name="Shape 19"/>
          <p:cNvSpPr/>
          <p:nvPr/>
        </p:nvSpPr>
        <p:spPr>
          <a:xfrm>
            <a:off x="6233008" y="5040630"/>
            <a:ext cx="5620360" cy="1341882"/>
          </a:xfrm>
          <a:prstGeom prst="roundRect">
            <a:avLst>
              <a:gd name="adj" fmla="val 5451"/>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22" name="Shape 20"/>
          <p:cNvSpPr/>
          <p:nvPr/>
        </p:nvSpPr>
        <p:spPr>
          <a:xfrm>
            <a:off x="6342736" y="5460111"/>
            <a:ext cx="502920" cy="502920"/>
          </a:xfrm>
          <a:prstGeom prst="ellipse">
            <a:avLst/>
          </a:prstGeom>
          <a:solidFill>
            <a:srgbClr val="00B050"/>
          </a:solidFill>
          <a:ln w="12700">
            <a:solidFill>
              <a:srgbClr val="00B050"/>
            </a:solidFill>
            <a:prstDash val="solid"/>
          </a:ln>
        </p:spPr>
        <p:txBody>
          <a:bodyPr/>
          <a:p/>
        </p:txBody>
      </p:sp>
      <p:sp>
        <p:nvSpPr>
          <p:cNvPr id="23" name="NOFIT_step-badge"/>
          <p:cNvSpPr/>
          <p:nvPr/>
        </p:nvSpPr>
        <p:spPr>
          <a:xfrm>
            <a:off x="6342736" y="5460111"/>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omic Sans MS" pitchFamily="34" charset="0"/>
                <a:ea typeface="Comic Sans MS" pitchFamily="34" charset="-122"/>
                <a:cs typeface="Comic Sans MS" pitchFamily="34" charset="-120"/>
              </a:rPr>
              <a:t>4</a:t>
            </a:r>
            <a:endParaRPr lang="en-US" sz="2000" dirty="0"/>
          </a:p>
        </p:txBody>
      </p:sp>
      <p:sp>
        <p:nvSpPr>
          <p:cNvPr id="24" name="GROWFIT__step-text-6767-600-6347-6650__36__MIN18__step-text-3"/>
          <p:cNvSpPr/>
          <p:nvPr/>
        </p:nvSpPr>
        <p:spPr>
          <a:xfrm>
            <a:off x="6937096" y="5040630"/>
            <a:ext cx="4806544" cy="1341882"/>
          </a:xfrm>
          <a:prstGeom prst="rect">
            <a:avLst/>
          </a:prstGeom>
          <a:noFill/>
          <a:ln/>
        </p:spPr>
        <p:txBody>
          <a:bodyPr wrap="square" lIns="0" tIns="0" rIns="0" bIns="0" rtlCol="0" anchor="ctr">
            <a:noAutofit/>
          </a:bodyPr>
          <a:lstStyle/>
          <a:p>
            <a:pPr algn="l" indent="0" marL="0">
              <a:buNone/>
            </a:pPr>
            <a:r>
              <a:rPr lang="en-US" sz="3500" b="1" dirty="0">
                <a:solidFill>
                  <a:srgbClr val="000000"/>
                </a:solidFill>
                <a:latin typeface="Comic Sans MS" pitchFamily="34" charset="0"/>
                <a:ea typeface="Comic Sans MS" pitchFamily="34" charset="-122"/>
                <a:cs typeface="Comic Sans MS" pitchFamily="34" charset="-120"/>
              </a:rPr>
              <a:t>Write why you put it there.</a:t>
            </a:r>
            <a:endParaRPr lang="en-US" sz="3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Help now or help later?</a:t>
            </a:r>
            <a:endParaRPr lang="en-US" sz="2800" dirty="0"/>
          </a:p>
        </p:txBody>
      </p:sp>
      <p:sp>
        <p:nvSpPr>
          <p:cNvPr id="3" name="Shape 1"/>
          <p:cNvSpPr/>
          <p:nvPr/>
        </p:nvSpPr>
        <p:spPr>
          <a:xfrm>
            <a:off x="201168" y="1371143"/>
            <a:ext cx="5803240" cy="4435754"/>
          </a:xfrm>
          <a:prstGeom prst="roundRect">
            <a:avLst>
              <a:gd name="adj" fmla="val 1649"/>
            </a:avLst>
          </a:prstGeom>
          <a:solidFill>
            <a:srgbClr val="FFFFFF"/>
          </a:solidFill>
          <a:ln/>
          <a:effectLst>
            <a:outerShdw sx="100000" sy="100000" kx="0" ky="0" algn="bl" rotWithShape="0" blurRad="127000" dist="12700" dir="5400000">
              <a:srgbClr val="000000">
                <a:alpha val="18000"/>
              </a:srgbClr>
            </a:outerShdw>
          </a:effectLst>
        </p:spPr>
        <p:txBody>
          <a:bodyPr/>
          <a:p/>
        </p:txBody>
      </p:sp>
      <p:pic>
        <p:nvPicPr>
          <p:cNvPr id="4" name="Image 0" descr="C:\Users\Daniel\Projects\lessonv4-cumulative\evaluations\lesson-designer-repairs-2026-09-16\example\unsplash\tudor-bread-making.jpg">    </p:cNvPr>
          <p:cNvPicPr>
            <a:picLocks noChangeAspect="1"/>
          </p:cNvPicPr>
          <p:nvPr/>
        </p:nvPicPr>
        <p:blipFill>
          <a:blip r:embed="rId1"/>
          <a:stretch>
            <a:fillRect/>
          </a:stretch>
        </p:blipFill>
        <p:spPr>
          <a:xfrm>
            <a:off x="310896" y="1480871"/>
            <a:ext cx="5583784" cy="3722522"/>
          </a:xfrm>
          <a:prstGeom prst="rect">
            <a:avLst/>
          </a:prstGeom>
        </p:spPr>
      </p:pic>
      <p:sp>
        <p:nvSpPr>
          <p:cNvPr id="5" name="Text 2"/>
          <p:cNvSpPr/>
          <p:nvPr/>
        </p:nvSpPr>
        <p:spPr>
          <a:xfrm>
            <a:off x="310896" y="5276545"/>
            <a:ext cx="5583784" cy="420624"/>
          </a:xfrm>
          <a:prstGeom prst="rect">
            <a:avLst/>
          </a:prstGeom>
          <a:noFill/>
          <a:ln/>
        </p:spPr>
        <p:txBody>
          <a:bodyPr wrap="square" lIns="0" tIns="0" rIns="0" bIns="0" rtlCol="0" anchor="ctr">
            <a:noAutofit/>
          </a:bodyPr>
          <a:lstStyle/>
          <a:p>
            <a:pPr algn="ctr" indent="0" marL="0">
              <a:buNone/>
            </a:pPr>
            <a:r>
              <a:rPr lang="en-US" sz="2000" i="1" dirty="0">
                <a:solidFill>
                  <a:srgbClr val="000000"/>
                </a:solidFill>
                <a:latin typeface="Comic Sans MS" pitchFamily="34" charset="0"/>
                <a:ea typeface="Comic Sans MS" pitchFamily="34" charset="-122"/>
                <a:cs typeface="Comic Sans MS" pitchFamily="34" charset="-120"/>
              </a:rPr>
              <a:t>Reconstruction of Tudor bread-making</a:t>
            </a:r>
            <a:endParaRPr lang="en-US" sz="2000" dirty="0"/>
          </a:p>
        </p:txBody>
      </p:sp>
      <p:sp>
        <p:nvSpPr>
          <p:cNvPr id="6" name="Shape 3"/>
          <p:cNvSpPr/>
          <p:nvPr/>
        </p:nvSpPr>
        <p:spPr>
          <a:xfrm>
            <a:off x="6187288" y="548640"/>
            <a:ext cx="5803240" cy="1548384"/>
          </a:xfrm>
          <a:prstGeom prst="roundRect">
            <a:avLst>
              <a:gd name="adj" fmla="val 4724"/>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7" name="Text 4"/>
          <p:cNvSpPr/>
          <p:nvPr/>
        </p:nvSpPr>
        <p:spPr>
          <a:xfrm>
            <a:off x="6260440" y="621792"/>
            <a:ext cx="5656936" cy="1402080"/>
          </a:xfrm>
          <a:prstGeom prst="rect">
            <a:avLst/>
          </a:prstGeom>
          <a:noFill/>
          <a:ln/>
        </p:spPr>
        <p:txBody>
          <a:bodyPr wrap="square" lIns="0" tIns="0" rIns="0" bIns="0" rtlCol="0" anchor="ctr">
            <a:noAutofit/>
          </a:bodyPr>
          <a:lstStyle/>
          <a:p>
            <a:pPr algn="l" indent="0" marL="0">
              <a:buNone/>
            </a:pPr>
            <a:r>
              <a:rPr lang="en-US" sz="2800" b="1" dirty="0">
                <a:solidFill>
                  <a:srgbClr val="000000"/>
                </a:solidFill>
                <a:latin typeface="Comic Sans MS" pitchFamily="34" charset="0"/>
                <a:ea typeface="Comic Sans MS" pitchFamily="34" charset="-122"/>
                <a:cs typeface="Comic Sans MS" pitchFamily="34" charset="-120"/>
              </a:rPr>
              <a:t>Imagined Tudor case: a baker takes on an apprentice called Tom.</a:t>
            </a:r>
            <a:endParaRPr lang="en-US" sz="2800" dirty="0"/>
          </a:p>
        </p:txBody>
      </p:sp>
      <p:sp>
        <p:nvSpPr>
          <p:cNvPr id="8" name="Shape 5"/>
          <p:cNvSpPr/>
          <p:nvPr/>
        </p:nvSpPr>
        <p:spPr>
          <a:xfrm>
            <a:off x="6187288" y="2188464"/>
            <a:ext cx="5803240" cy="652272"/>
          </a:xfrm>
          <a:prstGeom prst="roundRect">
            <a:avLst>
              <a:gd name="adj" fmla="val 11215"/>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9" name="GROWFIT__size-headings__28__size-group"/>
          <p:cNvSpPr/>
          <p:nvPr/>
        </p:nvSpPr>
        <p:spPr>
          <a:xfrm>
            <a:off x="6260440" y="2261616"/>
            <a:ext cx="5656936" cy="505968"/>
          </a:xfrm>
          <a:prstGeom prst="rect">
            <a:avLst/>
          </a:prstGeom>
          <a:noFill/>
          <a:ln/>
        </p:spPr>
        <p:txBody>
          <a:bodyPr wrap="square" lIns="0" tIns="0" rIns="0" bIns="0" rtlCol="0" anchor="ctr">
            <a:noAutofit/>
          </a:bodyPr>
          <a:lstStyle/>
          <a:p>
            <a:pPr algn="ctr" indent="0" marL="0">
              <a:buNone/>
            </a:pPr>
            <a:r>
              <a:rPr lang="en-US" sz="2800" b="1" dirty="0">
                <a:solidFill>
                  <a:srgbClr val="000000"/>
                </a:solidFill>
                <a:latin typeface="Comic Sans MS" pitchFamily="34" charset="0"/>
                <a:ea typeface="Comic Sans MS" pitchFamily="34" charset="-122"/>
                <a:cs typeface="Comic Sans MS" pitchFamily="34" charset="-120"/>
              </a:rPr>
              <a:t>Helped him straight away</a:t>
            </a:r>
            <a:endParaRPr lang="en-US" sz="2800" dirty="0"/>
          </a:p>
        </p:txBody>
      </p:sp>
      <p:sp>
        <p:nvSpPr>
          <p:cNvPr id="10" name="Shape 7"/>
          <p:cNvSpPr/>
          <p:nvPr/>
        </p:nvSpPr>
        <p:spPr>
          <a:xfrm>
            <a:off x="6187288" y="2932176"/>
            <a:ext cx="5803240" cy="652272"/>
          </a:xfrm>
          <a:prstGeom prst="roundRect">
            <a:avLst>
              <a:gd name="adj" fmla="val 11215"/>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1" name="GROWFIT__size-headings__28__size-group"/>
          <p:cNvSpPr/>
          <p:nvPr/>
        </p:nvSpPr>
        <p:spPr>
          <a:xfrm>
            <a:off x="6260440" y="3005328"/>
            <a:ext cx="5656936" cy="505968"/>
          </a:xfrm>
          <a:prstGeom prst="rect">
            <a:avLst/>
          </a:prstGeom>
          <a:noFill/>
          <a:ln/>
        </p:spPr>
        <p:txBody>
          <a:bodyPr wrap="square" lIns="0" tIns="0" rIns="0" bIns="0" rtlCol="0" anchor="ctr">
            <a:noAutofit/>
          </a:bodyPr>
          <a:lstStyle/>
          <a:p>
            <a:pPr algn="ctr" indent="0" marL="0">
              <a:buNone/>
            </a:pPr>
            <a:r>
              <a:rPr lang="en-US" sz="2800" b="1" dirty="0">
                <a:solidFill>
                  <a:srgbClr val="000000"/>
                </a:solidFill>
                <a:latin typeface="Comic Sans MS" pitchFamily="34" charset="0"/>
                <a:ea typeface="Comic Sans MS" pitchFamily="34" charset="-122"/>
                <a:cs typeface="Comic Sans MS" pitchFamily="34" charset="-120"/>
              </a:rPr>
              <a:t>Helped him when he grew up</a:t>
            </a:r>
            <a:endParaRPr lang="en-US" sz="2800" dirty="0"/>
          </a:p>
        </p:txBody>
      </p:sp>
      <p:sp>
        <p:nvSpPr>
          <p:cNvPr id="12" name="Shape 9"/>
          <p:cNvSpPr/>
          <p:nvPr/>
        </p:nvSpPr>
        <p:spPr>
          <a:xfrm>
            <a:off x="6187288" y="3675888"/>
            <a:ext cx="5803240" cy="1935480"/>
          </a:xfrm>
          <a:prstGeom prst="roundRect">
            <a:avLst>
              <a:gd name="adj" fmla="val 3780"/>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3" name="Text 10"/>
          <p:cNvSpPr/>
          <p:nvPr/>
        </p:nvSpPr>
        <p:spPr>
          <a:xfrm>
            <a:off x="6260440" y="3749040"/>
            <a:ext cx="5656936" cy="1789176"/>
          </a:xfrm>
          <a:prstGeom prst="rect">
            <a:avLst/>
          </a:prstGeom>
          <a:noFill/>
          <a:ln/>
        </p:spPr>
        <p:txBody>
          <a:bodyPr wrap="square" lIns="0" tIns="0" rIns="0" bIns="0" rtlCol="0" anchor="ctr">
            <a:noAutofit/>
          </a:bodyPr>
          <a:lstStyle/>
          <a:p>
            <a:pPr algn="l" indent="0" marL="0">
              <a:buNone/>
            </a:pPr>
            <a:r>
              <a:rPr lang="en-US" sz="2700" b="1" dirty="0">
                <a:solidFill>
                  <a:srgbClr val="0070C0"/>
                </a:solidFill>
                <a:latin typeface="Comic Sans MS" pitchFamily="34" charset="0"/>
                <a:ea typeface="Comic Sans MS" pitchFamily="34" charset="-122"/>
                <a:cs typeface="Comic Sans MS" pitchFamily="34" charset="-120"/>
              </a:rPr>
              <a:t>Put each card under a heading. Then pick the card that was hardest to place, and write why you put it there.</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D9C7"/>
        </a:solidFill>
      </p:bgPr>
    </p:bg>
    <p:spTree>
      <p:nvGrpSpPr>
        <p:cNvPr id="1" name=""/>
        <p:cNvGrpSpPr/>
        <p:nvPr/>
      </p:nvGrpSpPr>
      <p:grpSpPr>
        <a:xfrm>
          <a:off x="0" y="0"/>
          <a:ext cx="0" cy="0"/>
          <a:chOff x="0" y="0"/>
          <a:chExt cx="0" cy="0"/>
        </a:xfrm>
      </p:grpSpPr>
      <p:sp>
        <p:nvSpPr>
          <p:cNvPr id="2" name="Text 0"/>
          <p:cNvSpPr/>
          <p:nvPr/>
        </p:nvSpPr>
        <p:spPr>
          <a:xfrm>
            <a:off x="64008" y="0"/>
            <a:ext cx="7315200" cy="493776"/>
          </a:xfrm>
          <a:prstGeom prst="rect">
            <a:avLst/>
          </a:prstGeom>
          <a:noFill/>
          <a:ln/>
        </p:spPr>
        <p:txBody>
          <a:bodyPr wrap="square" lIns="0" tIns="0" rIns="0" bIns="0" rtlCol="0" anchor="t">
            <a:noAutofit/>
          </a:bodyPr>
          <a:lstStyle/>
          <a:p>
            <a:pPr algn="l" indent="0" marL="0">
              <a:buNone/>
            </a:pPr>
            <a:r>
              <a:rPr lang="en-US" sz="2800" b="1" u="sng" dirty="0">
                <a:solidFill>
                  <a:srgbClr val="0070C0"/>
                </a:solidFill>
                <a:latin typeface="Comic Sans MS" pitchFamily="34" charset="0"/>
                <a:ea typeface="Comic Sans MS" pitchFamily="34" charset="-122"/>
                <a:cs typeface="Comic Sans MS" pitchFamily="34" charset="-120"/>
              </a:rPr>
              <a:t>Help now or help later? - check</a:t>
            </a:r>
            <a:endParaRPr lang="en-US" sz="2800" dirty="0"/>
          </a:p>
        </p:txBody>
      </p:sp>
      <p:sp>
        <p:nvSpPr>
          <p:cNvPr id="3" name="Shape 1"/>
          <p:cNvSpPr/>
          <p:nvPr/>
        </p:nvSpPr>
        <p:spPr>
          <a:xfrm>
            <a:off x="201168" y="548640"/>
            <a:ext cx="5803240" cy="652272"/>
          </a:xfrm>
          <a:prstGeom prst="roundRect">
            <a:avLst>
              <a:gd name="adj" fmla="val 11215"/>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4" name="Text 2"/>
          <p:cNvSpPr/>
          <p:nvPr/>
        </p:nvSpPr>
        <p:spPr>
          <a:xfrm>
            <a:off x="274320" y="621792"/>
            <a:ext cx="5656936" cy="505968"/>
          </a:xfrm>
          <a:prstGeom prst="rect">
            <a:avLst/>
          </a:prstGeom>
          <a:noFill/>
          <a:ln/>
        </p:spPr>
        <p:txBody>
          <a:bodyPr wrap="square" lIns="0" tIns="0" rIns="0" bIns="0" rtlCol="0" anchor="ctr">
            <a:noAutofit/>
          </a:bodyPr>
          <a:lstStyle/>
          <a:p>
            <a:pPr algn="ctr" indent="0" marL="0">
              <a:buNone/>
            </a:pPr>
            <a:r>
              <a:rPr lang="en-US" sz="2800" b="1" dirty="0">
                <a:solidFill>
                  <a:srgbClr val="000000"/>
                </a:solidFill>
                <a:latin typeface="Comic Sans MS" pitchFamily="34" charset="0"/>
                <a:ea typeface="Comic Sans MS" pitchFamily="34" charset="-122"/>
                <a:cs typeface="Comic Sans MS" pitchFamily="34" charset="-120"/>
              </a:rPr>
              <a:t>Helped him straight away</a:t>
            </a:r>
            <a:endParaRPr lang="en-US" sz="2800" dirty="0"/>
          </a:p>
        </p:txBody>
      </p:sp>
      <p:sp>
        <p:nvSpPr>
          <p:cNvPr id="5" name="Shape 3"/>
          <p:cNvSpPr/>
          <p:nvPr/>
        </p:nvSpPr>
        <p:spPr>
          <a:xfrm>
            <a:off x="201168" y="1292352"/>
            <a:ext cx="5803240" cy="652272"/>
          </a:xfrm>
          <a:prstGeom prst="roundRect">
            <a:avLst>
              <a:gd name="adj" fmla="val 11215"/>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6" name="GROWFIT__size-key__28__size-group"/>
          <p:cNvSpPr/>
          <p:nvPr/>
        </p:nvSpPr>
        <p:spPr>
          <a:xfrm>
            <a:off x="274320" y="1365504"/>
            <a:ext cx="5656936" cy="505968"/>
          </a:xfrm>
          <a:prstGeom prst="rect">
            <a:avLst/>
          </a:prstGeom>
          <a:noFill/>
          <a:ln/>
        </p:spPr>
        <p:txBody>
          <a:bodyPr wrap="square" lIns="0" tIns="0" rIns="0" bIns="0" rtlCol="0" anchor="ctr">
            <a:noAutofit/>
          </a:bodyPr>
          <a:lstStyle/>
          <a:p>
            <a:pPr algn="l" indent="0" marL="0">
              <a:buNone/>
            </a:pPr>
            <a:r>
              <a:rPr lang="en-US" sz="2800" b="1" dirty="0">
                <a:solidFill>
                  <a:srgbClr val="00B050"/>
                </a:solidFill>
                <a:latin typeface="Comic Sans MS" pitchFamily="34" charset="0"/>
                <a:ea typeface="Comic Sans MS" pitchFamily="34" charset="-122"/>
                <a:cs typeface="Comic Sans MS" pitchFamily="34" charset="-120"/>
              </a:rPr>
              <a:t>a hot dinner every day</a:t>
            </a:r>
            <a:endParaRPr lang="en-US" sz="2800" dirty="0"/>
          </a:p>
        </p:txBody>
      </p:sp>
      <p:sp>
        <p:nvSpPr>
          <p:cNvPr id="7" name="Shape 5"/>
          <p:cNvSpPr/>
          <p:nvPr/>
        </p:nvSpPr>
        <p:spPr>
          <a:xfrm>
            <a:off x="201168" y="2036064"/>
            <a:ext cx="5803240"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8" name="GROWFIT__size-key__28__size-group"/>
          <p:cNvSpPr/>
          <p:nvPr/>
        </p:nvSpPr>
        <p:spPr>
          <a:xfrm>
            <a:off x="274320" y="2109216"/>
            <a:ext cx="5656936" cy="975360"/>
          </a:xfrm>
          <a:prstGeom prst="rect">
            <a:avLst/>
          </a:prstGeom>
          <a:noFill/>
          <a:ln/>
        </p:spPr>
        <p:txBody>
          <a:bodyPr wrap="square" lIns="0" tIns="0" rIns="0" bIns="0" rtlCol="0" anchor="ctr">
            <a:noAutofit/>
          </a:bodyPr>
          <a:lstStyle/>
          <a:p>
            <a:pPr algn="l" indent="0" marL="0">
              <a:buNone/>
            </a:pPr>
            <a:r>
              <a:rPr lang="en-US" sz="2800" b="1" dirty="0">
                <a:solidFill>
                  <a:srgbClr val="00B050"/>
                </a:solidFill>
                <a:latin typeface="Comic Sans MS" pitchFamily="34" charset="0"/>
                <a:ea typeface="Comic Sans MS" pitchFamily="34" charset="-122"/>
                <a:cs typeface="Comic Sans MS" pitchFamily="34" charset="-120"/>
              </a:rPr>
              <a:t>a straw mattress by the oven</a:t>
            </a:r>
            <a:endParaRPr lang="en-US" sz="2800" dirty="0"/>
          </a:p>
        </p:txBody>
      </p:sp>
      <p:sp>
        <p:nvSpPr>
          <p:cNvPr id="9" name="Shape 7"/>
          <p:cNvSpPr/>
          <p:nvPr/>
        </p:nvSpPr>
        <p:spPr>
          <a:xfrm>
            <a:off x="201168" y="3249168"/>
            <a:ext cx="5803240" cy="652272"/>
          </a:xfrm>
          <a:prstGeom prst="roundRect">
            <a:avLst>
              <a:gd name="adj" fmla="val 11215"/>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0" name="GROWFIT__size-key__28__size-group"/>
          <p:cNvSpPr/>
          <p:nvPr/>
        </p:nvSpPr>
        <p:spPr>
          <a:xfrm>
            <a:off x="274320" y="3322320"/>
            <a:ext cx="5656936" cy="505968"/>
          </a:xfrm>
          <a:prstGeom prst="rect">
            <a:avLst/>
          </a:prstGeom>
          <a:noFill/>
          <a:ln/>
        </p:spPr>
        <p:txBody>
          <a:bodyPr wrap="square" lIns="0" tIns="0" rIns="0" bIns="0" rtlCol="0" anchor="ctr">
            <a:noAutofit/>
          </a:bodyPr>
          <a:lstStyle/>
          <a:p>
            <a:pPr algn="l" indent="0" marL="0">
              <a:buNone/>
            </a:pPr>
            <a:r>
              <a:rPr lang="en-US" sz="2800" b="1" dirty="0">
                <a:solidFill>
                  <a:srgbClr val="00B050"/>
                </a:solidFill>
                <a:latin typeface="Comic Sans MS" pitchFamily="34" charset="0"/>
                <a:ea typeface="Comic Sans MS" pitchFamily="34" charset="-122"/>
                <a:cs typeface="Comic Sans MS" pitchFamily="34" charset="-120"/>
              </a:rPr>
              <a:t>a warm coat for winter</a:t>
            </a:r>
            <a:endParaRPr lang="en-US" sz="2800" dirty="0"/>
          </a:p>
        </p:txBody>
      </p:sp>
      <p:sp>
        <p:nvSpPr>
          <p:cNvPr id="11" name="Shape 9"/>
          <p:cNvSpPr/>
          <p:nvPr/>
        </p:nvSpPr>
        <p:spPr>
          <a:xfrm>
            <a:off x="6187288" y="548640"/>
            <a:ext cx="5803240" cy="652272"/>
          </a:xfrm>
          <a:prstGeom prst="roundRect">
            <a:avLst>
              <a:gd name="adj" fmla="val 11215"/>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2" name="Text 10"/>
          <p:cNvSpPr/>
          <p:nvPr/>
        </p:nvSpPr>
        <p:spPr>
          <a:xfrm>
            <a:off x="6260440" y="621792"/>
            <a:ext cx="5656936" cy="505968"/>
          </a:xfrm>
          <a:prstGeom prst="rect">
            <a:avLst/>
          </a:prstGeom>
          <a:noFill/>
          <a:ln/>
        </p:spPr>
        <p:txBody>
          <a:bodyPr wrap="square" lIns="0" tIns="0" rIns="0" bIns="0" rtlCol="0" anchor="ctr">
            <a:noAutofit/>
          </a:bodyPr>
          <a:lstStyle/>
          <a:p>
            <a:pPr algn="ctr" indent="0" marL="0">
              <a:buNone/>
            </a:pPr>
            <a:r>
              <a:rPr lang="en-US" sz="2800" b="1" dirty="0">
                <a:solidFill>
                  <a:srgbClr val="000000"/>
                </a:solidFill>
                <a:latin typeface="Comic Sans MS" pitchFamily="34" charset="0"/>
                <a:ea typeface="Comic Sans MS" pitchFamily="34" charset="-122"/>
                <a:cs typeface="Comic Sans MS" pitchFamily="34" charset="-120"/>
              </a:rPr>
              <a:t>Helped him when he grew up</a:t>
            </a:r>
            <a:endParaRPr lang="en-US" sz="2800" dirty="0"/>
          </a:p>
        </p:txBody>
      </p:sp>
      <p:sp>
        <p:nvSpPr>
          <p:cNvPr id="13" name="Shape 11"/>
          <p:cNvSpPr/>
          <p:nvPr/>
        </p:nvSpPr>
        <p:spPr>
          <a:xfrm>
            <a:off x="6187288" y="1292352"/>
            <a:ext cx="5803240" cy="1121664"/>
          </a:xfrm>
          <a:prstGeom prst="roundRect">
            <a:avLst>
              <a:gd name="adj" fmla="val 6522"/>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4" name="GROWFIT__size-key__28__size-group"/>
          <p:cNvSpPr/>
          <p:nvPr/>
        </p:nvSpPr>
        <p:spPr>
          <a:xfrm>
            <a:off x="6260440" y="1365504"/>
            <a:ext cx="5656936" cy="975360"/>
          </a:xfrm>
          <a:prstGeom prst="rect">
            <a:avLst/>
          </a:prstGeom>
          <a:noFill/>
          <a:ln/>
        </p:spPr>
        <p:txBody>
          <a:bodyPr wrap="square" lIns="0" tIns="0" rIns="0" bIns="0" rtlCol="0" anchor="ctr">
            <a:noAutofit/>
          </a:bodyPr>
          <a:lstStyle/>
          <a:p>
            <a:pPr algn="l" indent="0" marL="0">
              <a:buNone/>
            </a:pPr>
            <a:r>
              <a:rPr lang="en-US" sz="2800" b="1" dirty="0">
                <a:solidFill>
                  <a:srgbClr val="00B050"/>
                </a:solidFill>
                <a:latin typeface="Comic Sans MS" pitchFamily="34" charset="0"/>
                <a:ea typeface="Comic Sans MS" pitchFamily="34" charset="-122"/>
                <a:cs typeface="Comic Sans MS" pitchFamily="34" charset="-120"/>
              </a:rPr>
              <a:t>knowing when bread is baked just right</a:t>
            </a:r>
            <a:endParaRPr lang="en-US" sz="2800" dirty="0"/>
          </a:p>
        </p:txBody>
      </p:sp>
      <p:sp>
        <p:nvSpPr>
          <p:cNvPr id="15" name="Shape 13"/>
          <p:cNvSpPr/>
          <p:nvPr/>
        </p:nvSpPr>
        <p:spPr>
          <a:xfrm>
            <a:off x="6187288" y="2505456"/>
            <a:ext cx="5803240" cy="652272"/>
          </a:xfrm>
          <a:prstGeom prst="roundRect">
            <a:avLst>
              <a:gd name="adj" fmla="val 11215"/>
            </a:avLst>
          </a:prstGeom>
          <a:solidFill>
            <a:srgbClr val="FFFFFF"/>
          </a:solidFill>
          <a:ln/>
          <a:effectLst>
            <a:outerShdw sx="100000" sy="100000" kx="0" ky="0" algn="bl" rotWithShape="0" blurRad="127000" dist="12700" dir="5400000">
              <a:srgbClr val="000000">
                <a:alpha val="18000"/>
              </a:srgbClr>
            </a:outerShdw>
          </a:effectLst>
        </p:spPr>
        <p:txBody>
          <a:bodyPr/>
          <a:p/>
        </p:txBody>
      </p:sp>
      <p:sp>
        <p:nvSpPr>
          <p:cNvPr id="16" name="GROWFIT__size-key__28__size-group"/>
          <p:cNvSpPr/>
          <p:nvPr/>
        </p:nvSpPr>
        <p:spPr>
          <a:xfrm>
            <a:off x="6260440" y="2578608"/>
            <a:ext cx="5656936" cy="505968"/>
          </a:xfrm>
          <a:prstGeom prst="rect">
            <a:avLst/>
          </a:prstGeom>
          <a:noFill/>
          <a:ln/>
        </p:spPr>
        <p:txBody>
          <a:bodyPr wrap="square" lIns="0" tIns="0" rIns="0" bIns="0" rtlCol="0" anchor="ctr">
            <a:noAutofit/>
          </a:bodyPr>
          <a:lstStyle/>
          <a:p>
            <a:pPr algn="l" indent="0" marL="0">
              <a:buNone/>
            </a:pPr>
            <a:r>
              <a:rPr lang="en-US" sz="2800" b="1" dirty="0">
                <a:solidFill>
                  <a:srgbClr val="00B050"/>
                </a:solidFill>
                <a:latin typeface="Comic Sans MS" pitchFamily="34" charset="0"/>
                <a:ea typeface="Comic Sans MS" pitchFamily="34" charset="-122"/>
                <a:cs typeface="Comic Sans MS" pitchFamily="34" charset="-120"/>
              </a:rPr>
              <a:t>his own bakery one day</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did Tudor children work - repair example</dc:title>
  <dc:subject>To explain why Tudor children worked.</dc:subject>
  <dc:creator>PptxGenJS</dc:creator>
  <cp:lastModifiedBy>PptxGenJS</cp:lastModifiedBy>
  <cp:revision>1</cp:revision>
  <dcterms:created xsi:type="dcterms:W3CDTF">2026-09-16T15:23:09Z</dcterms:created>
  <dcterms:modified xsi:type="dcterms:W3CDTF">2026-09-16T15:23:09Z</dcterms:modified>
</cp:coreProperties>
</file>